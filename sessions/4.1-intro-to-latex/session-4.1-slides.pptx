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22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347472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84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502920" cy="0"/>
          </a:xfrm>
          <a:prstGeom prst="line">
            <a:avLst/>
          </a:prstGeom>
          <a:noFill/>
          <a:ln w="25400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i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LaTeX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once, format perfectly.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Naima Yaqub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507492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5138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Sunday, 12 July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5138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PM IST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580644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5788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5779008"/>
            <a:ext cx="14973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5989320"/>
            <a:ext cx="14973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&amp; templates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03170" y="580644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03170" y="5788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960370" y="5779008"/>
            <a:ext cx="14973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60370" y="5989320"/>
            <a:ext cx="14973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&amp; display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03420" y="580644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03420" y="5788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60620" y="5779008"/>
            <a:ext cx="14973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60620" y="5989320"/>
            <a:ext cx="14973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figures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03670" y="580644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03670" y="5788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60870" y="5779008"/>
            <a:ext cx="14973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60870" y="5989320"/>
            <a:ext cx="14973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&amp; citations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732520" y="640080"/>
            <a:ext cx="0" cy="4937760"/>
          </a:xfrm>
          <a:prstGeom prst="line">
            <a:avLst/>
          </a:prstGeom>
          <a:noFill/>
          <a:ln w="12700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052560" y="685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69680" y="8686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7800" dirty="0"/>
          </a:p>
        </p:txBody>
      </p:sp>
      <p:sp>
        <p:nvSpPr>
          <p:cNvPr id="38" name="Text 36"/>
          <p:cNvSpPr/>
          <p:nvPr/>
        </p:nvSpPr>
        <p:spPr>
          <a:xfrm>
            <a:off x="8869680" y="23317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Typeset like a pro.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on content,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formatting.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732520" y="3611880"/>
            <a:ext cx="3063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933688" y="3776472"/>
            <a:ext cx="26609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\documentclass{article}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\usepackage{amsmath}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\begin{document}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21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\section{Why LaTeX?}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LaTeX is a powerful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for technical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\end{document}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you'll be able to write a complete research paper draft in LaTeX — start to finish.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9848" y="2414016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" y="2148840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LaTeX for research papers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77063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69848" y="3035808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4712" y="2770632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.tex document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3319272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39242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69848" y="365760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4712" y="3392424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packages to load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01421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69848" y="4279392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24712" y="4014216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 &amp; ready-made templates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4562856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6360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69848" y="4901184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24712" y="4636008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with sections &amp; subsections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02920" y="5184648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525780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69848" y="5522976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24712" y="5257800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that look publication-ready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370168" y="21488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937096" y="2414016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91960" y="2148840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figures &amp; images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370168" y="2697480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70168" y="277063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937096" y="3035808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91960" y="2770632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vs. display math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370168" y="3319272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70168" y="339242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937096" y="365760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91960" y="3392424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citations (BibTeX)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370168" y="3941064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70168" y="401421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937096" y="4279392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91960" y="4014216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full research paper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6370168" y="4562856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70168" y="46360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937096" y="4901184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91960" y="4636008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&amp; debugging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6370168" y="5184648"/>
            <a:ext cx="5318608" cy="0"/>
          </a:xfrm>
          <a:prstGeom prst="line">
            <a:avLst/>
          </a:prstGeom>
          <a:noFill/>
          <a:ln w="9525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70168" y="525780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937096" y="5522976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91960" y="5257800"/>
            <a:ext cx="467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 + resources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LaTeX for a Research Paper?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643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222199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2203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21992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numbering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" y="2788920"/>
            <a:ext cx="4852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Equations, figures, tables, and citations renumber themselves. Add or delete one and nothing breaks.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8" y="1965960"/>
            <a:ext cx="53643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0480" y="222199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0480" y="2203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93128" y="2221992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math typesetting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0480" y="2788920"/>
            <a:ext cx="4852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derivations, matrices, and summations that no word processor handles as cleanly.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53643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8952" y="427939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279392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Content, not formatting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8952" y="4846320"/>
            <a:ext cx="4852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something is (a section, a citation); the template decides how it looks.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4023360"/>
            <a:ext cx="53643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0480" y="427939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04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93128" y="4279392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expected submission format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0480" y="4846320"/>
            <a:ext cx="48522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engineering/science journal or conference provides and often requires a LaTeX template.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.tex Document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6035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2130552"/>
            <a:ext cx="5632704" cy="396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\documentclass[11pt]{article}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---- Preamble: setup only ----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\usepackage{amsmath}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\usepackage{graphicx}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\title{My Paper}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\author{Your Name}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---- Content starts here ----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\begin{document}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\maketitle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\section{Introduction}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text goes here.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\end{document}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37960" y="201168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02552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0" y="2423160"/>
            <a:ext cx="515081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\documentclass must be the very first line. It sets margins, fonts, and available commands.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 = everything before \begin{document}. Setup only, nothing visible.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\usepackage{} loads an add-on once; you then use its commands anywhere below.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\maketitle actually prints the title block. Doesn’t work if you wrote  \title{} but forgot this line.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\begin{...}/\end{...} pairs are environments. Figures, tables, equations, and lists all use this pattern.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THESE EVERY 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Packages for Research Papers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1185855" cy="475488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11880" y="1874520"/>
            <a:ext cx="8076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you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25496"/>
            <a:ext cx="11185855" cy="0"/>
          </a:xfrm>
          <a:prstGeom prst="line">
            <a:avLst/>
          </a:prstGeom>
          <a:noFill/>
          <a:ln w="6350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825496"/>
            <a:ext cx="11185855" cy="475488"/>
          </a:xfrm>
          <a:prstGeom prst="rect">
            <a:avLst/>
          </a:prstGeom>
          <a:solidFill>
            <a:srgbClr val="FB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82549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graphicx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11880" y="2825496"/>
            <a:ext cx="8076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\includegraphics — required to insert any figure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11185855" cy="0"/>
          </a:xfrm>
          <a:prstGeom prst="line">
            <a:avLst/>
          </a:prstGeom>
          <a:noFill/>
          <a:ln w="6350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727448"/>
            <a:ext cx="11185855" cy="0"/>
          </a:xfrm>
          <a:prstGeom prst="line">
            <a:avLst/>
          </a:prstGeom>
          <a:noFill/>
          <a:ln w="6350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759981"/>
            <a:ext cx="11185855" cy="475488"/>
          </a:xfrm>
          <a:prstGeom prst="rect">
            <a:avLst/>
          </a:prstGeom>
          <a:solidFill>
            <a:srgbClr val="FBFA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0080" y="3759981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geometry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11880" y="3759981"/>
            <a:ext cx="8076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margin control: \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usepackage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[margin=1in]{geometry}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235469"/>
            <a:ext cx="11185855" cy="0"/>
          </a:xfrm>
          <a:prstGeom prst="line">
            <a:avLst/>
          </a:prstGeom>
          <a:noFill/>
          <a:ln w="6350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2920" y="4710957"/>
            <a:ext cx="11185855" cy="475488"/>
          </a:xfrm>
          <a:prstGeom prst="rect">
            <a:avLst/>
          </a:prstGeom>
          <a:solidFill>
            <a:srgbClr val="FB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4710957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 err="1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amsmath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11880" y="4710957"/>
            <a:ext cx="8076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math: align, cases, matrices — load this in every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paperaQ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w2q1`dd`d`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2920" y="5186445"/>
            <a:ext cx="11185855" cy="0"/>
          </a:xfrm>
          <a:prstGeom prst="line">
            <a:avLst/>
          </a:prstGeom>
          <a:noFill/>
          <a:ln w="6350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A439E3B1-ED5F-0B1C-56FC-8F40DBD42DF2}"/>
              </a:ext>
            </a:extLst>
          </p:cNvPr>
          <p:cNvSpPr/>
          <p:nvPr/>
        </p:nvSpPr>
        <p:spPr>
          <a:xfrm>
            <a:off x="502920" y="5578738"/>
            <a:ext cx="11185855" cy="475488"/>
          </a:xfrm>
          <a:prstGeom prst="rect">
            <a:avLst/>
          </a:prstGeom>
          <a:solidFill>
            <a:srgbClr val="FB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00F530AB-3A13-3BA6-155C-C353FCD8FA3A}"/>
              </a:ext>
            </a:extLst>
          </p:cNvPr>
          <p:cNvSpPr/>
          <p:nvPr/>
        </p:nvSpPr>
        <p:spPr>
          <a:xfrm>
            <a:off x="640080" y="557873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algorithm, algpseudocode</a:t>
            </a:r>
            <a:endParaRPr lang="en-US" sz="125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944C23A9-E9DF-1613-B7E3-874D38EB7463}"/>
              </a:ext>
            </a:extLst>
          </p:cNvPr>
          <p:cNvSpPr/>
          <p:nvPr/>
        </p:nvSpPr>
        <p:spPr>
          <a:xfrm>
            <a:off x="3611880" y="5578738"/>
            <a:ext cx="8076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pseudocode blocks for methods/algorithms</a:t>
            </a:r>
            <a:endParaRPr lang="en-US" sz="1250" dirty="0"/>
          </a:p>
        </p:txBody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CFBA7625-FDE0-705A-9209-033B253E5840}"/>
              </a:ext>
            </a:extLst>
          </p:cNvPr>
          <p:cNvSpPr/>
          <p:nvPr/>
        </p:nvSpPr>
        <p:spPr>
          <a:xfrm>
            <a:off x="502920" y="6054226"/>
            <a:ext cx="11185855" cy="0"/>
          </a:xfrm>
          <a:prstGeom prst="line">
            <a:avLst/>
          </a:prstGeom>
          <a:noFill/>
          <a:ln w="6350">
            <a:solidFill>
              <a:srgbClr val="B7B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FROM A BLANK PAGE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Overleaf &amp; Ready-Made Templates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7512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overleaf.com and create a free account — no installation needed.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→ Blank Project to start from scratch, or search the Template Gallery for your target venue.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 = your .tex code. Right panel = the compiled PDF preview.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you'll repeat constantly: edit → Recompile → check PDF → repeat.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4599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98348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know your target journal or conference, search “[venue name] LaTeX template” and start there. Reformatting a generic article into a venue's style later is where subtle errors creep 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TEMPLATES YOU'LL MEET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331720"/>
            <a:ext cx="53794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IEEEtran.cls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743200"/>
            <a:ext cx="4922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layout, its own author-block commands, IEEEtran.bst for references. Used across almost all IEEE journals/conferences.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53794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svjour3.cls / llncs.cls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977640"/>
            <a:ext cx="4922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journal and LNCS proceedings templates. Typically single-column.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800600"/>
            <a:ext cx="53794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acmart.cls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5212080"/>
            <a:ext cx="4922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ACM's template; one class with multiple format modes (sigconf, acmsmall, etc.) set via a class option.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YOUR DOCUMENT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Structuring with Sections &amp; Subsections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03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2130552"/>
            <a:ext cx="4901184" cy="3877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\section{Introduction}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Motivation and contribution.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\subsection{Related Work}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Positions your work against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 literature.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\subsubsection{Gap}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specific gap you address.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\section{System Model}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201168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19672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NUMBERING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2423160"/>
            <a:ext cx="533369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\section, \subsection, \subsubsection nest three levels deep in the article class (no \chapter — that's for report/book).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 (1, 1.1, 1.1.1 …) is fully automatic. Insert or delete a section anywhere and every number below it updates on its own.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lines create new paragraphs; a single line break inside a paragraph is ignored — LaTeX just wraps the text.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470916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4690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FORMATTING BASICS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5074920"/>
            <a:ext cx="533369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56248" y="5239512"/>
            <a:ext cx="4931359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\textbf{bold}   \textit{italic}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\emph{emphasis}  (context-aware italics)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\begin{itemize} ... \end{itemize}  (bullets)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\begin{enumerate} ... \end{enumerate}  (numbered)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 TABLES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Tables with booktabs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2130552"/>
            <a:ext cx="5175504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\usepackage{booktabs}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\begin{table}[h!]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\centering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\caption{Comparison of schemes.}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\label{tab:schemes}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\begin{tabular}{lcc}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\toprule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 &amp; Metric A &amp; Metric B \\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\midrule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&amp; 1.0 &amp; 2.0 \\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&amp; 1.5 &amp; 2.8 \\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\bottomrule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\end{tabular}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\end{table}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201168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28232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RENDERS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423160"/>
            <a:ext cx="542513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46520" y="2743200"/>
            <a:ext cx="5059375" cy="0"/>
          </a:xfrm>
          <a:prstGeom prst="line">
            <a:avLst/>
          </a:prstGeom>
          <a:noFill/>
          <a:ln w="19050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2560320"/>
            <a:ext cx="50593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Metric A	Metric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880360"/>
            <a:ext cx="5059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       1.0         2.0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520" y="3200400"/>
            <a:ext cx="5059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       1.5         2.8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0" y="3566160"/>
            <a:ext cx="5059375" cy="0"/>
          </a:xfrm>
          <a:prstGeom prst="line">
            <a:avLst/>
          </a:prstGeom>
          <a:noFill/>
          <a:ln w="19050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402336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28232" y="4005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TO REMEMBER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4434840"/>
            <a:ext cx="54251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\toprule / \midrule / \bottomrule replace \hline — nearly every journal expects this look.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spec {lcc} = left, center, center. Use p{3cm} for a fixed, wrapped width.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goes above the table (below for figures) — a near-universal convention.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row at a time and recompile often — tables are where most beginners get stuck.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VISUALS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Figures &amp; Images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5778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2130552"/>
            <a:ext cx="5175504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\usepackage{graphicx}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\begin{figure}[h!]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\centering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\includegraphics[width=0.8\textwidth]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{figures/plot.png}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\caption{Result comparison.}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\label{fig:result}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\end{figure}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98348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4965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HINTS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53035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[h!] here-ish  ·  [t] top  ·  [b] bottom  ·  [p] own page — LaTeX treats these as suggestions, not commands, and may override them to avoid ugly breaks.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28232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2423160"/>
            <a:ext cx="54251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formats with pdflatex: .png, .jpg, .pdf.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goes below the figure — opposite convention from tables.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subcaption package handles side-by-side subfigures (Scenario A / B, etc.).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489204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4873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5257800"/>
            <a:ext cx="542513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5394960"/>
            <a:ext cx="49679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“File not found” almost always means a filename or path typo — image paths are case-sensitive.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REASON PEOPLE LEARN LATEX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vs. Display Math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7512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MATH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2450592"/>
            <a:ext cx="490118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SNR is $\gamma = \frac{P_s}{N_0 B}$.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61188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3593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MATH (NUMBERED)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" y="4142232"/>
            <a:ext cx="490118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\begin{equation}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\gamma = \frac{P_s}{N_0 B}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\label{eq:snr}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\end{equation}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unnumbered: \[ ... \]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92024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9672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BUILDING BLOCKS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2286000"/>
            <a:ext cx="5333695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56248" y="2450592"/>
            <a:ext cx="4931359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\frac{a}{b}          % fraction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x^2, x_i             % sup/subscript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\sqrt{x}, \sqrt[n]{x}  % roots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\sum_{i=1}^{N} x_i    % summation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\int_0^\infty f(x)\,dx % integral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\boldsymbol{\theta}   % bold vector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448056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19672" y="4462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&amp; ALIGNED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846320"/>
            <a:ext cx="533369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56248" y="5010912"/>
            <a:ext cx="4931359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\begin{align}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&amp;= f(x) + \epsilon \\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\hat{y} &amp;= \arg\min_\theta \mathcal{L}(\theta)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\end{align}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0350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\usepackage{amsmath} for align, cases, and matrices — the #1 beginner error is using _ or ^ outside math mode.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TYPE A BIBLIOGRAPHY BY HAND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Citations (BibTeX)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7512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KEEP A .BIB 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2450592"/>
            <a:ext cx="49926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@article{jung2023aoii,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 = {Jung, H. and Yaqub, N.},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 = {Age of Incorrect Info},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journal= {IEEE WCL}, year = {2023}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20624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4187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CITE IT IN YOUR PAPER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57200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" y="4736592"/>
            <a:ext cx="4992624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shown in \cite{jung2023aoii}, ...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\bibliographystyle{IEEEtran}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\bibliography{references}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81928" y="343791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341962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GET .BIB ENTRIES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81928" y="3803670"/>
            <a:ext cx="533369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→ the “Cite” quotation icon → BibTeX.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/ ACM DL / Springer → Export Citation → BibTeX.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Zotero / Mendeley → export your whole library as one .bib file.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NOT JUST FORMATTING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Research Paper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78408" y="17556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78408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not vague — ideally hints at the contribution.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78408" y="25603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78408" y="28620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Self-contained: problem, method, key result. ~150–250 words.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9242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374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78408" y="33649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78408" y="36667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→ gap in existing work → your contribution.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97096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178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8408" y="41696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78408" y="44714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you against existing literature.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001768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983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78408" y="49743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Model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78408" y="52760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mathematical setup; a notation table if complex.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78308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30568" y="17556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830568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core of the paper.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258775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30568" y="25603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830568" y="28620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Figures/tables plus discussion of what they show.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339242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3374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30568" y="33649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830568" y="36667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Restates contribution and result, + future work.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4197096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55080" y="4178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830568" y="41696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830568" y="44714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per venue style — handled by BibTeX.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5001768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55080" y="4983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30568" y="49743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Acknowledgments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830568" y="52760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and collaborators, if applicable.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598932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checklist maps directly onto LaTeX commands you already know: \title, \begin{abstract}, \section{Introduction} … \section{Conclusion}, \bibliography{}.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&amp; How to Debug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548640"/>
          </a:xfrm>
          <a:prstGeom prst="rect">
            <a:avLst/>
          </a:prstGeom>
          <a:solidFill>
            <a:srgbClr val="FB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 control sequence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09160" y="196596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command, or forgot \usepackage{} for 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$ inserted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251460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_ or ^ in regular text, outside math mode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11185855" cy="548640"/>
          </a:xfrm>
          <a:prstGeom prst="rect">
            <a:avLst/>
          </a:prstGeom>
          <a:solidFill>
            <a:srgbClr val="FB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shows as ??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06324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\label{} doesn't exist yet, or compile a 2nd 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not found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filename/path — check exact spelling &amp; case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160520"/>
            <a:ext cx="11185855" cy="548640"/>
          </a:xfrm>
          <a:prstGeom prst="rect">
            <a:avLst/>
          </a:prstGeom>
          <a:solidFill>
            <a:srgbClr val="FB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Runaway argument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416052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opening { never got a matching closing }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Citations show as [?]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470916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the bibtex step — recompile 2–3 times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486400"/>
            <a:ext cx="11185855" cy="868680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57784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habit: read the FIRST error top-to-bottom — one real mistake often cascades into several fake-looking ones below it.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IT'S 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 &amp; Resources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7512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BEFORE NEXT SESSION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blank Overleaf project and reproduce today's mini-paper skeleton (title, abstract, one section, one equation).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table and one figure with proper captions and \label{}s.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3-entry references.bib and cite all three in your text.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break something (delete a brace, misspell a command) and practice reading the error before fixing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54864" cy="310896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19672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331720"/>
            <a:ext cx="53336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overleaf.com — editor + template gallery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 documentation &amp; the built-in “Learn LaTeX” guides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— BibTeX export for citations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target journal/conference's author guidelines page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5623560"/>
            <a:ext cx="11185855" cy="822960"/>
          </a:xfrm>
          <a:prstGeom prst="rect">
            <a:avLst/>
          </a:prstGeom>
          <a:solidFill>
            <a:srgbClr val="1B2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562356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— Questions &amp; discussion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BTAJI CREW COMMUNITY  ·  SESSION 4.1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2073</Words>
  <Application>Microsoft Office PowerPoint</Application>
  <PresentationFormat>Widescreen</PresentationFormat>
  <Paragraphs>343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Naima Yaqub</cp:lastModifiedBy>
  <cp:revision>2</cp:revision>
  <dcterms:created xsi:type="dcterms:W3CDTF">2026-07-12T06:45:58Z</dcterms:created>
  <dcterms:modified xsi:type="dcterms:W3CDTF">2026-07-12T15:32:18Z</dcterms:modified>
</cp:coreProperties>
</file>