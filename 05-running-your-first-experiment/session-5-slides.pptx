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hammadibrahim313/btaji-crew-research-lab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.whatsapp.com/E29f5rozhAo8RbKjA00eSh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79552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737373"/>
                </a:solidFill>
                <a:latin typeface="Times New Roman"/>
                <a:cs typeface="Times New Roman"/>
              </a:rPr>
              <a:t>BTAJI CREW  ·  SESSION FIVE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795527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800" b="1">
                <a:solidFill>
                  <a:srgbClr val="111111"/>
                </a:solidFill>
                <a:latin typeface="Times New Roman"/>
                <a:cs typeface="Times New Roman"/>
              </a:rPr>
              <a:t>Running Your</a:t>
            </a:r>
          </a:p>
          <a:p>
            <a:pPr>
              <a:lnSpc>
                <a:spcPct val="100000"/>
              </a:lnSpc>
            </a:pPr>
            <a:r>
              <a:rPr sz="5800" b="1" i="1">
                <a:solidFill>
                  <a:srgbClr val="111111"/>
                </a:solidFill>
                <a:latin typeface="Times New Roman"/>
                <a:cs typeface="Times New Roman"/>
              </a:rPr>
              <a:t>First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i="1">
                <a:solidFill>
                  <a:srgbClr val="737373"/>
                </a:solidFill>
                <a:latin typeface="Times New Roman"/>
                <a:cs typeface="Times New Roman"/>
              </a:rPr>
              <a:t>From your plan to real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795527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737373"/>
                </a:solidFill>
                <a:latin typeface="Times New Roman"/>
                <a:cs typeface="Times New Roman"/>
              </a:rPr>
              <a:t>HOSTED BY   </a:t>
            </a:r>
            <a:r>
              <a:rPr sz="1700">
                <a:solidFill>
                  <a:srgbClr val="111111"/>
                </a:solidFill>
                <a:latin typeface="Times New Roman"/>
                <a:cs typeface="Times New Roman"/>
              </a:rPr>
              <a:t>Muhammad Ibrahim Qasmi  &amp;  Zulqarnain Ali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737373"/>
                </a:solidFill>
                <a:latin typeface="Times New Roman"/>
                <a:cs typeface="Times New Roman"/>
              </a:rPr>
              <a:t>Free   ·   Urdu   ·   Beginner 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Times New Roman"/>
                <a:cs typeface="Times New Roman"/>
              </a:rPr>
              <a:t>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0020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600" b="1">
                <a:solidFill>
                  <a:srgbClr val="111111"/>
                </a:solidFill>
                <a:latin typeface="Times New Roman"/>
                <a:cs typeface="Times New Roman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42062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i="1">
                <a:solidFill>
                  <a:srgbClr val="111111"/>
                </a:solidFill>
                <a:latin typeface="Times New Roman"/>
                <a:cs typeface="Times New Roman"/>
              </a:rPr>
              <a:t>Five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760720"/>
            <a:ext cx="10543032" cy="0"/>
          </a:xfrm>
          <a:prstGeom prst="bentConnector3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11111"/>
                </a:solidFill>
                <a:latin typeface="Times New Roman"/>
                <a:cs typeface="Times New Roman"/>
              </a:rPr>
              <a:t>BASELINE</a:t>
            </a:r>
            <a:r>
              <a:rPr sz="1500" dirty="0">
                <a:solidFill>
                  <a:srgbClr val="737373"/>
                </a:solidFill>
                <a:latin typeface="Times New Roman"/>
                <a:cs typeface="Times New Roman"/>
              </a:rPr>
              <a:t>      →      </a:t>
            </a:r>
            <a:r>
              <a:rPr sz="1500" b="1" dirty="0">
                <a:solidFill>
                  <a:srgbClr val="111111"/>
                </a:solidFill>
                <a:latin typeface="Times New Roman"/>
                <a:cs typeface="Times New Roman"/>
              </a:rPr>
              <a:t>IMPROVE</a:t>
            </a:r>
            <a:r>
              <a:rPr sz="1500" dirty="0">
                <a:solidFill>
                  <a:srgbClr val="737373"/>
                </a:solidFill>
                <a:latin typeface="Times New Roman"/>
                <a:cs typeface="Times New Roman"/>
              </a:rPr>
              <a:t>      →      </a:t>
            </a:r>
            <a:r>
              <a:rPr sz="1500" b="1" dirty="0">
                <a:solidFill>
                  <a:srgbClr val="111111"/>
                </a:solidFill>
                <a:latin typeface="Times New Roman"/>
                <a:cs typeface="Times New Roman"/>
              </a:rPr>
              <a:t>MEASURE</a:t>
            </a:r>
            <a:r>
              <a:rPr sz="1500" dirty="0">
                <a:solidFill>
                  <a:srgbClr val="737373"/>
                </a:solidFill>
                <a:latin typeface="Times New Roman"/>
                <a:cs typeface="Times New Roman"/>
              </a:rPr>
              <a:t>      →      </a:t>
            </a:r>
            <a:r>
              <a:rPr sz="1500" b="1" dirty="0">
                <a:solidFill>
                  <a:srgbClr val="111111"/>
                </a:solidFill>
                <a:latin typeface="Times New Roman"/>
                <a:cs typeface="Times New Roman"/>
              </a:rPr>
              <a:t>FILL PAPER</a:t>
            </a:r>
            <a:r>
              <a:rPr sz="1500" dirty="0">
                <a:solidFill>
                  <a:srgbClr val="737373"/>
                </a:solidFill>
                <a:latin typeface="Times New Roman"/>
                <a:cs typeface="Times New Roman"/>
              </a:rPr>
              <a:t>      →      </a:t>
            </a:r>
            <a:r>
              <a:rPr sz="1500" b="1" dirty="0">
                <a:solidFill>
                  <a:srgbClr val="111111"/>
                </a:solidFill>
                <a:latin typeface="Times New Roman"/>
                <a:cs typeface="Times New Roman"/>
              </a:rPr>
              <a:t>YOUR TURN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Where we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have been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06169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Session 1: what research is, and how to read a paper.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Session 2: find a gap, and write one clear research question.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Session 3: prove the gap is real with a full search of the field.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Session 4: plan the paper and the experiment.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Today: turn the machine on and get real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2 / 22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36CA0F-E4C8-B93B-E712-B11F63D48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0901"/>
            <a:ext cx="12192000" cy="1158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  <a:latin typeface="Times New Roman"/>
                <a:cs typeface="Times New Roman"/>
              </a:rPr>
              <a:t>Three acts: </a:t>
            </a:r>
            <a:r>
              <a:rPr sz="3400" b="1" i="1">
                <a:solidFill>
                  <a:srgbClr val="111111"/>
                </a:solidFill>
                <a:latin typeface="Times New Roman"/>
                <a:cs typeface="Times New Roman"/>
              </a:rPr>
              <a:t>fail, win, fill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77" y="1510411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Act 1: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the simple baseline fails, worse than noise.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Act 2: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the neural method wins, a big jump.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Act 3: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the real numbers fill the empty paper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8588" y="2104219"/>
            <a:ext cx="3797404" cy="3373914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  <a:latin typeface="Times New Roman"/>
                <a:cs typeface="Times New Roman"/>
              </a:rPr>
              <a:t>WHY THIS MATTERS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 dirty="0">
                <a:solidFill>
                  <a:srgbClr val="111111"/>
                </a:solidFill>
                <a:latin typeface="Times New Roman"/>
                <a:cs typeface="Times New Roman"/>
              </a:rPr>
              <a:t>This is the arc of every project: a weak baseline, then improve, then measure, then write it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3 / 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F7BC40-CD4B-CE06-8D9D-0A6476B48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9050"/>
            <a:ext cx="12192000" cy="1036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MYTH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11111"/>
                </a:solidFill>
                <a:latin typeface="Times New Roman"/>
                <a:cs typeface="Times New Roman"/>
              </a:rPr>
              <a:t>You must write </a:t>
            </a:r>
            <a:r>
              <a:rPr sz="3200" b="1" i="1">
                <a:solidFill>
                  <a:srgbClr val="111111"/>
                </a:solidFill>
                <a:latin typeface="Times New Roman"/>
                <a:cs typeface="Times New Roman"/>
              </a:rPr>
              <a:t>every line yourself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565490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Research is not about reinventing the tools.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It is about asking a new question and using the right tools to answer it.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Today we run code from the challenge winners. We read the results, not every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8583" y="2148289"/>
            <a:ext cx="3136392" cy="265781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  <a:latin typeface="Times New Roman"/>
                <a:cs typeface="Times New Roman"/>
              </a:rPr>
              <a:t>THE TRUTH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 dirty="0">
                <a:solidFill>
                  <a:srgbClr val="111111"/>
                </a:solidFill>
                <a:latin typeface="Times New Roman"/>
                <a:cs typeface="Times New Roman"/>
              </a:rPr>
              <a:t>The best researchers did not write </a:t>
            </a:r>
            <a:r>
              <a:rPr sz="2000" i="1" dirty="0" err="1">
                <a:solidFill>
                  <a:srgbClr val="111111"/>
                </a:solidFill>
                <a:latin typeface="Times New Roman"/>
                <a:cs typeface="Times New Roman"/>
              </a:rPr>
              <a:t>PyTorch</a:t>
            </a:r>
            <a:r>
              <a:rPr sz="2000" i="1" dirty="0">
                <a:solidFill>
                  <a:srgbClr val="111111"/>
                </a:solidFill>
                <a:latin typeface="Times New Roman"/>
                <a:cs typeface="Times New Roman"/>
              </a:rPr>
              <a:t>. They used it. So can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4 / 22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76317B-174D-ACEE-7C19-051369B4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9624"/>
            <a:ext cx="12192000" cy="19669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800" b="1">
                <a:solidFill>
                  <a:srgbClr val="111111"/>
                </a:solidFill>
                <a:latin typeface="Times New Roman"/>
                <a:cs typeface="Times New Roman"/>
              </a:rPr>
              <a:t>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11111"/>
                </a:solidFill>
                <a:latin typeface="Times New Roman"/>
                <a:cs typeface="Times New Roman"/>
              </a:rPr>
              <a:t>The baseline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737373"/>
                </a:solidFill>
                <a:latin typeface="Times New Roman"/>
                <a:cs typeface="Times New Roman"/>
              </a:rPr>
              <a:t>Start simple, and let it fail honestly.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FROM SESSION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The plan we are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running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Baseline: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the classical top-down sweep.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Data: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977 ECGs, 9 damage types.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Metric: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SNR in dB, higher is better.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Win: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hold up for each type of damage.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37033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Times New Roman"/>
                <a:cs typeface="Times New Roman"/>
              </a:rPr>
              <a:t>THE DISCIPLINE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11111"/>
                </a:solidFill>
                <a:latin typeface="Times New Roman"/>
                <a:cs typeface="Times New Roman"/>
              </a:rPr>
              <a:t>We run what we planned. No last minute changes. The data tells us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EXPERIMENT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sz="3400" b="1" i="1">
                <a:solidFill>
                  <a:srgbClr val="111111"/>
                </a:solidFill>
                <a:latin typeface="Times New Roman"/>
                <a:cs typeface="Times New Roman"/>
              </a:rPr>
              <a:t>baseline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Classical image processing. No neural nets, no GPU.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Convert to black and white, scan column by column, trace the line.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11111"/>
                </a:solidFill>
                <a:latin typeface="Times New Roman"/>
                <a:cs typeface="Times New Roman"/>
              </a:rPr>
              <a:t>We need a before picture to measure any improvement against.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7 / 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A81D1-901A-E1CF-41BB-208EF2D30C8D}"/>
              </a:ext>
            </a:extLst>
          </p:cNvPr>
          <p:cNvSpPr txBox="1"/>
          <p:nvPr/>
        </p:nvSpPr>
        <p:spPr>
          <a:xfrm>
            <a:off x="7235326" y="1627191"/>
            <a:ext cx="5782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▶ Jump to code — Notebook 1 · Setup cells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9139F-FDE5-D676-49B8-5939589FB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130" y="2688115"/>
            <a:ext cx="5784869" cy="32261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300" b="1" dirty="0">
                <a:solidFill>
                  <a:srgbClr val="111111"/>
                </a:solidFill>
                <a:latin typeface="Times New Roman"/>
                <a:cs typeface="Times New Roman"/>
              </a:rPr>
              <a:t>The baseline </a:t>
            </a:r>
            <a:r>
              <a:rPr sz="3300" b="1" i="1" dirty="0">
                <a:solidFill>
                  <a:srgbClr val="111111"/>
                </a:solidFill>
                <a:latin typeface="Times New Roman"/>
                <a:cs typeface="Times New Roman"/>
              </a:rPr>
              <a:t>fails, on purpose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Overall SNR is negative 4.83 </a:t>
            </a:r>
            <a:r>
              <a:rPr sz="2200" dirty="0" err="1">
                <a:solidFill>
                  <a:srgbClr val="111111"/>
                </a:solidFill>
                <a:latin typeface="Times New Roman"/>
                <a:cs typeface="Times New Roman"/>
              </a:rPr>
              <a:t>dB.</a:t>
            </a: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 Every damage type is negative.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Negative means the output is worse than random noise.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A weak baseline is a good baseline. Now we have a target to beat.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8 / 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92650-8598-6C11-A615-3B7A1EB50B1F}"/>
              </a:ext>
            </a:extLst>
          </p:cNvPr>
          <p:cNvSpPr txBox="1"/>
          <p:nvPr/>
        </p:nvSpPr>
        <p:spPr>
          <a:xfrm>
            <a:off x="7147192" y="165323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▶ Jump to code — Notebook 1 · Section 6.2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83E324-9C6C-BAA5-E848-FDA2E05E2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918" y="3007604"/>
            <a:ext cx="5290047" cy="2950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Why the baseline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fails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6944" y="2664518"/>
            <a:ext cx="7039779" cy="21662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✕</a:t>
            </a:r>
            <a:r>
              <a:rPr lang="en-US" sz="220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No perspective correction, so tilted photos break it.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✕</a:t>
            </a:r>
            <a:r>
              <a:rPr lang="en-US" sz="220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No grid rectification, it assumes one fixed layout.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✕</a:t>
            </a:r>
            <a:r>
              <a:rPr lang="en-US" sz="220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Naive thresholding dies on uneven light and stains.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sz="2200" dirty="0">
                <a:solidFill>
                  <a:srgbClr val="00B050"/>
                </a:solidFill>
                <a:latin typeface="Times New Roman"/>
                <a:cs typeface="Times New Roman"/>
              </a:rPr>
              <a:t>✓</a:t>
            </a:r>
            <a:r>
              <a:rPr lang="en-US" sz="220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Each clue tells us exactly what a better method must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9 / 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4ACBE1-EB26-B96B-30F3-4EB3CDB6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740" y="2698995"/>
            <a:ext cx="4447139" cy="2480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MYTH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  <a:latin typeface="Times New Roman"/>
                <a:cs typeface="Times New Roman"/>
              </a:rPr>
              <a:t>A negative number means </a:t>
            </a:r>
            <a:r>
              <a:rPr sz="3000" b="1" i="1">
                <a:solidFill>
                  <a:srgbClr val="111111"/>
                </a:solidFill>
                <a:latin typeface="Times New Roman"/>
                <a:cs typeface="Times New Roman"/>
              </a:rPr>
              <a:t>my code is broken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130214"/>
            <a:ext cx="5852160" cy="23806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lang="en-US" sz="2200" dirty="0">
                <a:solidFill>
                  <a:srgbClr val="111111"/>
                </a:solidFill>
                <a:latin typeface="Times New Roman"/>
                <a:cs typeface="Times New Roman"/>
              </a:rPr>
              <a:t>Usually,</a:t>
            </a: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 the code is fine. The method is just not enough yet.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The code ran, and it produced a number. That number tells you something.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A failed baseline is a successful diagnosis.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10 / 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2609A3-6549-2D0F-7C87-65742390A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548" y="3018629"/>
            <a:ext cx="5093452" cy="28405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800" b="1">
                <a:solidFill>
                  <a:srgbClr val="111111"/>
                </a:solidFill>
                <a:latin typeface="Times New Roman"/>
                <a:cs typeface="Times New Roman"/>
              </a:rP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11111"/>
                </a:solidFill>
                <a:latin typeface="Times New Roman"/>
                <a:cs typeface="Times New Roman"/>
              </a:rPr>
              <a:t>The climb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737373"/>
                </a:solidFill>
                <a:latin typeface="Times New Roman"/>
                <a:cs typeface="Times New Roman"/>
              </a:rPr>
              <a:t>One honest change at a time, measured the same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9D69C93-1402-5CAF-7179-0EE533B9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59" y="2011680"/>
            <a:ext cx="7234410" cy="40345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CLIMB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The baseline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ladder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0926" y="2728531"/>
            <a:ext cx="7109185" cy="27653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B0 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naive classical sweep, negative 4.83 dB, the motivation.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B1 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direct regression, a model reads the image, first positive.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B2 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add rectification, flatten the grid first, a big jump.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B3 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add post-processing, resampling and lead correction.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MAX  </a:t>
            </a:r>
            <a:r>
              <a:rPr sz="2200" b="0" i="0" dirty="0">
                <a:solidFill>
                  <a:srgbClr val="111111"/>
                </a:solidFill>
                <a:latin typeface="Times New Roman"/>
                <a:cs typeface="Times New Roman"/>
              </a:rPr>
              <a:t>retrain our own model, versus the pretrained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STAND ON SHOULDERS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Learn from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the winners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5842714"/>
            <a:ext cx="10543032" cy="3708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1500"/>
              </a:spcAft>
            </a:pP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We build our ladder from what actually won the competition.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13 / 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B29256-0675-BD81-D3AB-3325A3DC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65" y="2116126"/>
            <a:ext cx="6872934" cy="38329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BIG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Rectify</a:t>
            </a: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 the image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2116" y="2050234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Photos are tilted and warped, and the grid is bent.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Detect the grid points, then warp the page back to flat.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Both of the top teams depend on this one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14 / 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4EF1BE-B593-693C-6FD8-B9201FB8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10" y="2879925"/>
            <a:ext cx="5903389" cy="3292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11111"/>
                </a:solidFill>
                <a:latin typeface="Times New Roman"/>
                <a:cs typeface="Times New Roman"/>
              </a:rPr>
              <a:t>Measured for </a:t>
            </a:r>
            <a:r>
              <a:rPr sz="3200" b="1" i="1">
                <a:solidFill>
                  <a:srgbClr val="111111"/>
                </a:solidFill>
                <a:latin typeface="Times New Roman"/>
                <a:cs typeface="Times New Roman"/>
              </a:rPr>
              <a:t>each damage type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We measure every rung on the same fixed test set.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We report the score per damage type, not one overall number.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11111"/>
                </a:solidFill>
                <a:latin typeface="Times New Roman"/>
                <a:cs typeface="Times New Roman"/>
              </a:rPr>
              <a:t>The neural numbers come from Notebook 2 when it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15 / 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030CC2-BF9A-B0F9-869F-2F571567FCA9}"/>
              </a:ext>
            </a:extLst>
          </p:cNvPr>
          <p:cNvSpPr txBox="1"/>
          <p:nvPr/>
        </p:nvSpPr>
        <p:spPr>
          <a:xfrm>
            <a:off x="7009482" y="161948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▶ Jump to code — Notebook 2 · Ablation run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F73E52-CF54-C85B-6DCD-A934D132C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416" y="2941504"/>
            <a:ext cx="5330516" cy="29727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5222A6-82CE-3246-D449-0A18292B3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100" y="2944315"/>
            <a:ext cx="4895918" cy="273041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SNR is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sneaky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3558" y="3237166"/>
            <a:ext cx="7877060" cy="21667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It is in decibels. Zero means the error equals the signal.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It is aligned first, so a small shift is forgiven.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11111"/>
                </a:solidFill>
                <a:latin typeface="Times New Roman"/>
                <a:cs typeface="Times New Roman"/>
              </a:rPr>
              <a:t>It averages in the linear domain, so your best images dominate.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 dirty="0">
                <a:solidFill>
                  <a:srgbClr val="111111"/>
                </a:solidFill>
                <a:latin typeface="Times New Roman"/>
                <a:cs typeface="Times New Roman"/>
              </a:rPr>
              <a:t>▪  Push the good images higher, do not just rescue the worst.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Fill the paper,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2560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Open the paper template with the empty result tables.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Paste the real per-type numbers straight from the notebook.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11111"/>
                </a:solidFill>
                <a:latin typeface="Times New Roman"/>
                <a:cs typeface="Times New Roman"/>
              </a:rPr>
              <a:t>The skeleton becomes a paper with a results section.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5486400" cy="4572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Courier New"/>
                <a:cs typeface="Courier New"/>
              </a:rPr>
              <a:t>open:  research-paper-template.tex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11111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800" b="1">
                <a:solidFill>
                  <a:srgbClr val="111111"/>
                </a:solidFill>
                <a:latin typeface="Times New Roman"/>
                <a:cs typeface="Times New Roman"/>
              </a:rP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11111"/>
                </a:solidFill>
                <a:latin typeface="Times New Roman"/>
                <a:cs typeface="Times New Roman"/>
              </a:rPr>
              <a:t>Your turn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737373"/>
                </a:solidFill>
                <a:latin typeface="Times New Roman"/>
                <a:cs typeface="Times New Roman"/>
              </a:rPr>
              <a:t>You do not watch research. You run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Run it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yourself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14255" y="438912"/>
            <a:ext cx="1554480" cy="42062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2560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Open Notebook 1, then click Copy and Edit on Kaggle.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Keep the smoke test on, it runs in a few minutes.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Watch the charts appear, then read the per-type table.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11111"/>
                </a:solidFill>
                <a:latin typeface="Times New Roman"/>
                <a:cs typeface="Times New Roman"/>
              </a:rPr>
              <a:t>You do not need every line. Watch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5486400" cy="4572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Courier New"/>
                <a:cs typeface="Courier New"/>
              </a:rPr>
              <a:t>open:  ecg-nb1-exploration.ipynb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Your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task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2834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Run Notebook 1 on your own Kaggle account.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Take a screenshot of your per-type SNR table.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Write one sentence: my baseline scored X dB overall.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11111"/>
                </a:solidFill>
                <a:latin typeface="Times New Roman"/>
                <a:cs typeface="Times New Roman"/>
              </a:rPr>
              <a:t>Post it in the community group before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>
                <a:solidFill>
                  <a:srgbClr val="111111"/>
                </a:solidFill>
                <a:latin typeface="Times New Roman"/>
                <a:cs typeface="Times New Roman"/>
                <a:hlinkClick r:id="rId2"/>
              </a:rPr>
              <a:t>Repo: slides, notebooks,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37373"/>
                </a:solidFill>
                <a:latin typeface="Times New Roman"/>
                <a:cs typeface="Times New Roman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11111"/>
                </a:solidFill>
                <a:latin typeface="Times New Roman"/>
                <a:cs typeface="Times New Roman"/>
              </a:rPr>
              <a:t>What you </a:t>
            </a:r>
            <a:r>
              <a:rPr sz="3600" b="1" i="1">
                <a:solidFill>
                  <a:srgbClr val="111111"/>
                </a:solidFill>
                <a:latin typeface="Times New Roman"/>
                <a:cs typeface="Times New Roman"/>
              </a:rPr>
              <a:t>learned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11111"/>
                </a:solidFill>
                <a:latin typeface="Times New Roman"/>
                <a:cs typeface="Times New Roman"/>
              </a:rPr>
              <a:t>A weak baseline gives you a target to beat.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A negative number is a diagnosis, not a bug.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Report per type, the average hides the story.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200">
                <a:solidFill>
                  <a:srgbClr val="111111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11111"/>
                </a:solidFill>
                <a:latin typeface="Times New Roman"/>
                <a:cs typeface="Times New Roman"/>
              </a:rPr>
              <a:t>Research is running experiments and reading them, not typing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BTAJI CREW  ·  SESSION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37373"/>
                </a:solidFill>
                <a:latin typeface="Times New Roman"/>
                <a:cs typeface="Times New Roman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imes New Roman"/>
                <a:cs typeface="Times New Roman"/>
              </a:rPr>
              <a:t>JOIN 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303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0" b="1">
                <a:solidFill>
                  <a:srgbClr val="FFFFFF"/>
                </a:solidFill>
                <a:latin typeface="Times New Roman"/>
                <a:cs typeface="Times New Roman"/>
              </a:rPr>
              <a:t>See you </a:t>
            </a:r>
            <a:r>
              <a:rPr sz="6800" b="1" i="1">
                <a:solidFill>
                  <a:srgbClr val="FFFFFF"/>
                </a:solidFill>
                <a:latin typeface="Times New Roman"/>
                <a:cs typeface="Times New Roman"/>
              </a:rPr>
              <a:t>next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Times New Roman"/>
                <a:cs typeface="Times New Roman"/>
              </a:rPr>
              <a:t>Run Notebook 1, then post your baseline number and a screenshot in the group. Next time we finish the paper.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Times New Roman"/>
                <a:cs typeface="Times New Roman"/>
                <a:hlinkClick r:id="rId2"/>
              </a:rPr>
              <a:t>chat.whatsapp.com/E29f5rozhAo8RbKjA00eSh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1252</Words>
  <Application>Microsoft Office PowerPoint</Application>
  <PresentationFormat>Widescreen</PresentationFormat>
  <Paragraphs>173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OP</cp:lastModifiedBy>
  <cp:revision>28</cp:revision>
  <dcterms:created xsi:type="dcterms:W3CDTF">2013-01-27T09:14:16Z</dcterms:created>
  <dcterms:modified xsi:type="dcterms:W3CDTF">2026-07-18T09:01:26Z</dcterms:modified>
  <cp:category/>
</cp:coreProperties>
</file>