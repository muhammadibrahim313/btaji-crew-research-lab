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bentConnector3">
            <a:avLst/>
          </a:prstGeom>
          <a:ln w="127000">
            <a:solidFill>
              <a:srgbClr val="234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68680" y="777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spc="240">
                <a:solidFill>
                  <a:srgbClr val="23439B"/>
                </a:solidFill>
                <a:latin typeface="Helvetica Neue"/>
                <a:cs typeface="Helvetica Neue"/>
              </a:rPr>
              <a:t>BTAJI CREW  /  RESEARCH LAB  /  SESSION SIX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98755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6400" b="1">
                <a:solidFill>
                  <a:srgbClr val="1B1B1A"/>
                </a:solidFill>
                <a:latin typeface="Georgia"/>
                <a:cs typeface="Georgia"/>
              </a:rPr>
              <a:t>Publishing Your </a:t>
            </a:r>
            <a:r>
              <a:rPr sz="6400" b="1" i="1">
                <a:solidFill>
                  <a:srgbClr val="23439B"/>
                </a:solidFill>
                <a:latin typeface="Georgia"/>
                <a:cs typeface="Georgia"/>
              </a:rPr>
              <a:t>Research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611880"/>
            <a:ext cx="3108960" cy="0"/>
          </a:xfrm>
          <a:prstGeom prst="bentConnector3">
            <a:avLst/>
          </a:prstGeom>
          <a:ln w="30480">
            <a:solidFill>
              <a:srgbClr val="234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68680" y="3794760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i="1">
                <a:solidFill>
                  <a:srgbClr val="6E6A62"/>
                </a:solidFill>
                <a:latin typeface="Georgia"/>
                <a:cs typeface="Georgia"/>
              </a:rPr>
              <a:t>From a first preprint to a journal, in Pakistan and internationally.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89204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spc="160">
                <a:solidFill>
                  <a:srgbClr val="23439B"/>
                </a:solidFill>
                <a:latin typeface="Helvetica Neue"/>
                <a:cs typeface="Helvetica Neue"/>
              </a:rPr>
              <a:t>HOSTED BY   </a:t>
            </a:r>
            <a:r>
              <a:rPr sz="1700">
                <a:solidFill>
                  <a:srgbClr val="1B1B1A"/>
                </a:solidFill>
                <a:latin typeface="Helvetica Neue"/>
                <a:cs typeface="Helvetica Neue"/>
              </a:rPr>
              <a:t>Muhammad Ibrahim Qasmi   &amp;   Zulqarnain Ali</a:t>
            </a:r>
          </a:p>
          <a:p>
            <a:pPr>
              <a:spcBef>
                <a:spcPts val="600"/>
              </a:spcBef>
            </a:pPr>
            <a:r>
              <a:rPr sz="1300" spc="100">
                <a:solidFill>
                  <a:srgbClr val="6E6A62"/>
                </a:solidFill>
                <a:latin typeface="Helvetica Neue"/>
                <a:cs typeface="Helvetica Neue"/>
              </a:rPr>
              <a:t>Free   /   Urdu   /   Beginner friendly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17373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spc="300">
                <a:solidFill>
                  <a:srgbClr val="6E6A62"/>
                </a:solidFill>
                <a:latin typeface="Helvetica Neue"/>
                <a:cs typeface="Helvetica Neue"/>
              </a:rPr>
              <a:t>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1874519"/>
            <a:ext cx="2743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5000" b="1">
                <a:solidFill>
                  <a:srgbClr val="23439B"/>
                </a:solidFill>
                <a:latin typeface="Georgia"/>
                <a:cs typeface="Georgia"/>
              </a:rPr>
              <a:t>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104515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spc="240">
                <a:solidFill>
                  <a:srgbClr val="23439B"/>
                </a:solidFill>
                <a:latin typeface="Helvetica Neue"/>
                <a:cs typeface="Helvetica Neue"/>
              </a:rPr>
              <a:t>SESSIONS 1 TO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932688"/>
            <a:ext cx="1045159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400" b="1">
                <a:solidFill>
                  <a:srgbClr val="1B1B1A"/>
                </a:solidFill>
                <a:latin typeface="Georgia"/>
                <a:cs typeface="Georgia"/>
              </a:rPr>
              <a:t>How we got here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1783080"/>
            <a:ext cx="10451592" cy="0"/>
          </a:xfrm>
          <a:prstGeom prst="bentConnector3">
            <a:avLst/>
          </a:prstGeom>
          <a:ln w="1778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68680" y="2212848"/>
            <a:ext cx="10451592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9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900" b="1">
                <a:solidFill>
                  <a:srgbClr val="1B1B1A"/>
                </a:solidFill>
                <a:latin typeface="Helvetica Neue"/>
                <a:cs typeface="Helvetica Neue"/>
              </a:rPr>
              <a:t>Session 1: </a:t>
            </a:r>
            <a:r>
              <a:rPr sz="1900">
                <a:solidFill>
                  <a:srgbClr val="1B1B1A"/>
                </a:solidFill>
                <a:latin typeface="Helvetica Neue"/>
                <a:cs typeface="Helvetica Neue"/>
              </a:rPr>
              <a:t>What research is and how to read a paper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9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900" b="1">
                <a:solidFill>
                  <a:srgbClr val="1B1B1A"/>
                </a:solidFill>
                <a:latin typeface="Helvetica Neue"/>
                <a:cs typeface="Helvetica Neue"/>
              </a:rPr>
              <a:t>Session 2: </a:t>
            </a:r>
            <a:r>
              <a:rPr sz="1900">
                <a:solidFill>
                  <a:srgbClr val="1B1B1A"/>
                </a:solidFill>
                <a:latin typeface="Helvetica Neue"/>
                <a:cs typeface="Helvetica Neue"/>
              </a:rPr>
              <a:t>Move from an idea to a research question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9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900" b="1">
                <a:solidFill>
                  <a:srgbClr val="1B1B1A"/>
                </a:solidFill>
                <a:latin typeface="Helvetica Neue"/>
                <a:cs typeface="Helvetica Neue"/>
              </a:rPr>
              <a:t>Session 3: </a:t>
            </a:r>
            <a:r>
              <a:rPr sz="1900">
                <a:solidFill>
                  <a:srgbClr val="1B1B1A"/>
                </a:solidFill>
                <a:latin typeface="Helvetica Neue"/>
                <a:cs typeface="Helvetica Neue"/>
              </a:rPr>
              <a:t>Check whether the research gap is real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9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900" b="1">
                <a:solidFill>
                  <a:srgbClr val="1B1B1A"/>
                </a:solidFill>
                <a:latin typeface="Helvetica Neue"/>
                <a:cs typeface="Helvetica Neue"/>
              </a:rPr>
              <a:t>Session 4: </a:t>
            </a:r>
            <a:r>
              <a:rPr sz="1900">
                <a:solidFill>
                  <a:srgbClr val="1B1B1A"/>
                </a:solidFill>
                <a:latin typeface="Helvetica Neue"/>
                <a:cs typeface="Helvetica Neue"/>
              </a:rPr>
              <a:t>Plan the paper, method, baselines, split, and metrics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9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900" b="1">
                <a:solidFill>
                  <a:srgbClr val="1B1B1A"/>
                </a:solidFill>
                <a:latin typeface="Helvetica Neue"/>
                <a:cs typeface="Helvetica Neue"/>
              </a:rPr>
              <a:t>Session 5: </a:t>
            </a:r>
            <a:r>
              <a:rPr sz="1900">
                <a:solidFill>
                  <a:srgbClr val="1B1B1A"/>
                </a:solidFill>
                <a:latin typeface="Helvetica Neue"/>
                <a:cs typeface="Helvetica Neue"/>
              </a:rPr>
              <a:t>Run the study, interpret the results, and prepare the manuscript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5285232"/>
            <a:ext cx="10451592" cy="749808"/>
          </a:xfrm>
          <a:prstGeom prst="rect">
            <a:avLst/>
          </a:prstGeom>
          <a:solidFill>
            <a:srgbClr val="EC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77824" y="5285232"/>
            <a:ext cx="0" cy="749808"/>
          </a:xfrm>
          <a:prstGeom prst="bentConnector3">
            <a:avLst/>
          </a:prstGeom>
          <a:ln w="63500">
            <a:solidFill>
              <a:srgbClr val="234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70432" y="5285232"/>
            <a:ext cx="99669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900" b="1">
                <a:solidFill>
                  <a:srgbClr val="23439B"/>
                </a:solidFill>
                <a:latin typeface="Georgia"/>
                <a:cs typeface="Georgia"/>
              </a:rPr>
              <a:t>Today:  </a:t>
            </a:r>
            <a:r>
              <a:rPr sz="1900" i="1">
                <a:solidFill>
                  <a:srgbClr val="1B1B1A"/>
                </a:solidFill>
                <a:latin typeface="Georgia"/>
                <a:cs typeface="Georgia"/>
              </a:rPr>
              <a:t>choose where and how to publish the finished 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spc="160">
                <a:solidFill>
                  <a:srgbClr val="6E6A62"/>
                </a:solidFill>
                <a:latin typeface="Helvetica Neue"/>
                <a:cs typeface="Helvetica Neue"/>
              </a:rPr>
              <a:t>BTAJI CREW   /   PUBLISHING YOUR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19088"/>
            <a:ext cx="13075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6E6A62"/>
                </a:solidFill>
                <a:latin typeface="Menlo"/>
                <a:cs typeface="Menl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104515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spc="240">
                <a:solidFill>
                  <a:srgbClr val="23439B"/>
                </a:solidFill>
                <a:latin typeface="Helvetica Neue"/>
                <a:cs typeface="Helvetica Neue"/>
              </a:rPr>
              <a:t>KEY TERMS BEFORE WE CONTINUE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932688"/>
            <a:ext cx="1045159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400" b="1">
                <a:solidFill>
                  <a:srgbClr val="1B1B1A"/>
                </a:solidFill>
                <a:latin typeface="Georgia"/>
                <a:cs typeface="Georgia"/>
              </a:rPr>
              <a:t>Paper and conference terms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1783080"/>
            <a:ext cx="10451592" cy="0"/>
          </a:xfrm>
          <a:prstGeom prst="bentConnector3">
            <a:avLst/>
          </a:prstGeom>
          <a:ln w="1778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868680" y="2240280"/>
            <a:ext cx="5074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68680" y="2240280"/>
            <a:ext cx="0" cy="1234440"/>
          </a:xfrm>
          <a:prstGeom prst="bentConnector3">
            <a:avLst/>
          </a:prstGeom>
          <a:ln w="50800">
            <a:solidFill>
              <a:srgbClr val="234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43000" y="2368296"/>
            <a:ext cx="4581144" cy="1014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3439B"/>
                </a:solidFill>
                <a:latin typeface="Helvetica Neue"/>
                <a:cs typeface="Helvetica Neue"/>
              </a:rPr>
              <a:t>Manuscript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500">
                <a:solidFill>
                  <a:srgbClr val="1B1B1A"/>
                </a:solidFill>
                <a:latin typeface="Helvetica Neue"/>
                <a:cs typeface="Helvetica Neue"/>
              </a:rPr>
              <a:t>The paper document before it becomes the publisher's final version.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2240280"/>
            <a:ext cx="5074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245352" y="2240280"/>
            <a:ext cx="0" cy="1234440"/>
          </a:xfrm>
          <a:prstGeom prst="bentConnector3">
            <a:avLst/>
          </a:prstGeom>
          <a:ln w="50800">
            <a:solidFill>
              <a:srgbClr val="234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19672" y="2368296"/>
            <a:ext cx="4581144" cy="1014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3439B"/>
                </a:solidFill>
                <a:latin typeface="Helvetica Neue"/>
                <a:cs typeface="Helvetica Neue"/>
              </a:rPr>
              <a:t>Venue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500">
                <a:solidFill>
                  <a:srgbClr val="1B1B1A"/>
                </a:solidFill>
                <a:latin typeface="Helvetica Neue"/>
                <a:cs typeface="Helvetica Neue"/>
              </a:rPr>
              <a:t>The journal, conference, or workshop where the work is submitted.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584448"/>
            <a:ext cx="5074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68680" y="3584448"/>
            <a:ext cx="0" cy="1234440"/>
          </a:xfrm>
          <a:prstGeom prst="bentConnector3">
            <a:avLst/>
          </a:prstGeom>
          <a:ln w="50800">
            <a:solidFill>
              <a:srgbClr val="234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43000" y="3712464"/>
            <a:ext cx="4581144" cy="1014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3439B"/>
                </a:solidFill>
                <a:latin typeface="Helvetica Neue"/>
                <a:cs typeface="Helvetica Neue"/>
              </a:rPr>
              <a:t>Peer review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500">
                <a:solidFill>
                  <a:srgbClr val="1B1B1A"/>
                </a:solidFill>
                <a:latin typeface="Helvetica Neue"/>
                <a:cs typeface="Helvetica Neue"/>
              </a:rPr>
              <a:t>Experts evaluate the research before formal acceptance.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3584448"/>
            <a:ext cx="5074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6245352" y="3584448"/>
            <a:ext cx="0" cy="1234440"/>
          </a:xfrm>
          <a:prstGeom prst="bentConnector3">
            <a:avLst/>
          </a:prstGeom>
          <a:ln w="50800">
            <a:solidFill>
              <a:srgbClr val="234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19672" y="3712464"/>
            <a:ext cx="4581144" cy="1014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3439B"/>
                </a:solidFill>
                <a:latin typeface="Helvetica Neue"/>
                <a:cs typeface="Helvetica Neue"/>
              </a:rPr>
              <a:t>Proceedings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500">
                <a:solidFill>
                  <a:srgbClr val="1B1B1A"/>
                </a:solidFill>
                <a:latin typeface="Helvetica Neue"/>
                <a:cs typeface="Helvetica Neue"/>
              </a:rPr>
              <a:t>The official published collection of accepted conference papers.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4928616"/>
            <a:ext cx="5074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868680" y="4928616"/>
            <a:ext cx="0" cy="1234440"/>
          </a:xfrm>
          <a:prstGeom prst="bentConnector3">
            <a:avLst/>
          </a:prstGeom>
          <a:ln w="50800">
            <a:solidFill>
              <a:srgbClr val="234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43000" y="5056632"/>
            <a:ext cx="4581144" cy="1014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3439B"/>
                </a:solidFill>
                <a:latin typeface="Helvetica Neue"/>
                <a:cs typeface="Helvetica Neue"/>
              </a:rPr>
              <a:t>Archival / non-archival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500">
                <a:solidFill>
                  <a:srgbClr val="1B1B1A"/>
                </a:solidFill>
                <a:latin typeface="Helvetica Neue"/>
                <a:cs typeface="Helvetica Neue"/>
              </a:rPr>
              <a:t>Archival work becomes a permanent formal publication; non-archival work is presented without a formal proceedings paper.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5352" y="4928616"/>
            <a:ext cx="5074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245352" y="4928616"/>
            <a:ext cx="0" cy="1234440"/>
          </a:xfrm>
          <a:prstGeom prst="bentConnector3">
            <a:avLst/>
          </a:prstGeom>
          <a:ln w="50800">
            <a:solidFill>
              <a:srgbClr val="234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19672" y="5056632"/>
            <a:ext cx="4581144" cy="1014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3439B"/>
                </a:solidFill>
                <a:latin typeface="Helvetica Neue"/>
                <a:cs typeface="Helvetica Neue"/>
              </a:rPr>
              <a:t>Camera-ready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500">
                <a:solidFill>
                  <a:srgbClr val="1B1B1A"/>
                </a:solidFill>
                <a:latin typeface="Helvetica Neue"/>
                <a:cs typeface="Helvetica Neue"/>
              </a:rPr>
              <a:t>The final corrected file submitted after acceptance for publication.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spc="160">
                <a:solidFill>
                  <a:srgbClr val="6E6A62"/>
                </a:solidFill>
                <a:latin typeface="Helvetica Neue"/>
                <a:cs typeface="Helvetica Neue"/>
              </a:rPr>
              <a:t>BTAJI CREW   /   PUBLISHING YOUR RESEARCH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19088"/>
            <a:ext cx="13075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6E6A62"/>
                </a:solidFill>
                <a:latin typeface="Menlo"/>
                <a:cs typeface="Menl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104515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spc="240">
                <a:solidFill>
                  <a:srgbClr val="23439B"/>
                </a:solidFill>
                <a:latin typeface="Helvetica Neue"/>
                <a:cs typeface="Helvetica Neue"/>
              </a:rPr>
              <a:t>KEY TERMS BEFORE WE CONTINUE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932688"/>
            <a:ext cx="1045159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400" b="1">
                <a:solidFill>
                  <a:srgbClr val="1B1B1A"/>
                </a:solidFill>
                <a:latin typeface="Georgia"/>
                <a:cs typeface="Georgia"/>
              </a:rPr>
              <a:t>Journal and publishing terms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1783080"/>
            <a:ext cx="10451592" cy="0"/>
          </a:xfrm>
          <a:prstGeom prst="bentConnector3">
            <a:avLst/>
          </a:prstGeom>
          <a:ln w="1778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868680" y="2240280"/>
            <a:ext cx="5074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68680" y="2240280"/>
            <a:ext cx="0" cy="1234440"/>
          </a:xfrm>
          <a:prstGeom prst="bentConnector3">
            <a:avLst/>
          </a:prstGeom>
          <a:ln w="50800">
            <a:solidFill>
              <a:srgbClr val="234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43000" y="2368296"/>
            <a:ext cx="4581144" cy="1014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3439B"/>
                </a:solidFill>
                <a:latin typeface="Helvetica Neue"/>
                <a:cs typeface="Helvetica Neue"/>
              </a:rPr>
              <a:t>Indexing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500">
                <a:solidFill>
                  <a:srgbClr val="1B1B1A"/>
                </a:solidFill>
                <a:latin typeface="Helvetica Neue"/>
                <a:cs typeface="Helvetica Neue"/>
              </a:rPr>
              <a:t>A trusted academic database includes and tracks the journal or proceedings.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2240280"/>
            <a:ext cx="5074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245352" y="2240280"/>
            <a:ext cx="0" cy="1234440"/>
          </a:xfrm>
          <a:prstGeom prst="bentConnector3">
            <a:avLst/>
          </a:prstGeom>
          <a:ln w="50800">
            <a:solidFill>
              <a:srgbClr val="234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19672" y="2368296"/>
            <a:ext cx="4581144" cy="1014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3439B"/>
                </a:solidFill>
                <a:latin typeface="Helvetica Neue"/>
                <a:cs typeface="Helvetica Neue"/>
              </a:rPr>
              <a:t>DOI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500">
                <a:solidFill>
                  <a:srgbClr val="1B1B1A"/>
                </a:solidFill>
                <a:latin typeface="Helvetica Neue"/>
                <a:cs typeface="Helvetica Neue"/>
              </a:rPr>
              <a:t>A permanent digital identifier for a paper, dataset, or other research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584448"/>
            <a:ext cx="5074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68680" y="3584448"/>
            <a:ext cx="0" cy="1234440"/>
          </a:xfrm>
          <a:prstGeom prst="bentConnector3">
            <a:avLst/>
          </a:prstGeom>
          <a:ln w="50800">
            <a:solidFill>
              <a:srgbClr val="234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43000" y="3712464"/>
            <a:ext cx="4581144" cy="1014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3439B"/>
                </a:solidFill>
                <a:latin typeface="Helvetica Neue"/>
                <a:cs typeface="Helvetica Neue"/>
              </a:rPr>
              <a:t>ISSN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500">
                <a:solidFill>
                  <a:srgbClr val="1B1B1A"/>
                </a:solidFill>
                <a:latin typeface="Helvetica Neue"/>
                <a:cs typeface="Helvetica Neue"/>
              </a:rPr>
              <a:t>A unique identifier assigned to a journal or serial publication.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3584448"/>
            <a:ext cx="5074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6245352" y="3584448"/>
            <a:ext cx="0" cy="1234440"/>
          </a:xfrm>
          <a:prstGeom prst="bentConnector3">
            <a:avLst/>
          </a:prstGeom>
          <a:ln w="50800">
            <a:solidFill>
              <a:srgbClr val="234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19672" y="3712464"/>
            <a:ext cx="4581144" cy="1014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3439B"/>
                </a:solidFill>
                <a:latin typeface="Helvetica Neue"/>
                <a:cs typeface="Helvetica Neue"/>
              </a:rPr>
              <a:t>APC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500">
                <a:solidFill>
                  <a:srgbClr val="1B1B1A"/>
                </a:solidFill>
                <a:latin typeface="Helvetica Neue"/>
                <a:cs typeface="Helvetica Neue"/>
              </a:rPr>
              <a:t>Article Processing Charge, a publication fee that may be required after acceptance.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4928616"/>
            <a:ext cx="5074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868680" y="4928616"/>
            <a:ext cx="0" cy="1234440"/>
          </a:xfrm>
          <a:prstGeom prst="bentConnector3">
            <a:avLst/>
          </a:prstGeom>
          <a:ln w="50800">
            <a:solidFill>
              <a:srgbClr val="234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43000" y="5056632"/>
            <a:ext cx="4581144" cy="1014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3439B"/>
                </a:solidFill>
                <a:latin typeface="Helvetica Neue"/>
                <a:cs typeface="Helvetica Neue"/>
              </a:rPr>
              <a:t>Quartile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500">
                <a:solidFill>
                  <a:srgbClr val="1B1B1A"/>
                </a:solidFill>
                <a:latin typeface="Helvetica Neue"/>
                <a:cs typeface="Helvetica Neue"/>
              </a:rPr>
              <a:t>A journal's position from Q1 to Q4 compared with journals in the same field.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5352" y="4928616"/>
            <a:ext cx="5074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245352" y="4928616"/>
            <a:ext cx="0" cy="1234440"/>
          </a:xfrm>
          <a:prstGeom prst="bentConnector3">
            <a:avLst/>
          </a:prstGeom>
          <a:ln w="50800">
            <a:solidFill>
              <a:srgbClr val="234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19672" y="5056632"/>
            <a:ext cx="4581144" cy="1014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3439B"/>
                </a:solidFill>
                <a:latin typeface="Helvetica Neue"/>
                <a:cs typeface="Helvetica Neue"/>
              </a:rPr>
              <a:t>Open access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500">
                <a:solidFill>
                  <a:srgbClr val="1B1B1A"/>
                </a:solidFill>
                <a:latin typeface="Helvetica Neue"/>
                <a:cs typeface="Helvetica Neue"/>
              </a:rPr>
              <a:t>The article can be read online without the reader needing a subscription.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spc="160">
                <a:solidFill>
                  <a:srgbClr val="6E6A62"/>
                </a:solidFill>
                <a:latin typeface="Helvetica Neue"/>
                <a:cs typeface="Helvetica Neue"/>
              </a:rPr>
              <a:t>BTAJI CREW   /   PUBLISHING YOUR RESEARCH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19088"/>
            <a:ext cx="13075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6E6A62"/>
                </a:solidFill>
                <a:latin typeface="Menlo"/>
                <a:cs typeface="Menl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104515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spc="240">
                <a:solidFill>
                  <a:srgbClr val="23439B"/>
                </a:solidFill>
                <a:latin typeface="Helvetica Neue"/>
                <a:cs typeface="Helvetica Neue"/>
              </a:rPr>
              <a:t>THE MAP OF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932688"/>
            <a:ext cx="1045159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200" b="1">
                <a:solidFill>
                  <a:srgbClr val="1B1B1A"/>
                </a:solidFill>
                <a:latin typeface="Georgia"/>
                <a:cs typeface="Georgia"/>
              </a:rPr>
              <a:t>Five homes for your work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1783080"/>
            <a:ext cx="10451592" cy="0"/>
          </a:xfrm>
          <a:prstGeom prst="bentConnector3">
            <a:avLst/>
          </a:prstGeom>
          <a:ln w="1778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868680" y="2212848"/>
            <a:ext cx="10451592" cy="512064"/>
          </a:xfrm>
          <a:prstGeom prst="rect">
            <a:avLst/>
          </a:prstGeom>
          <a:solidFill>
            <a:srgbClr val="234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212848"/>
            <a:ext cx="3060717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Helvetica Neue"/>
                <a:cs typeface="Helvetica Neue"/>
              </a:rPr>
              <a:t>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0293" y="2212848"/>
            <a:ext cx="221978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Helvetica Neue"/>
                <a:cs typeface="Helvetica Neue"/>
              </a:rPr>
              <a:t>Speed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2958" y="2212848"/>
            <a:ext cx="221978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Helvetica Neue"/>
                <a:cs typeface="Helvetica Neue"/>
              </a:rPr>
              <a:t>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5623" y="2212848"/>
            <a:ext cx="221978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Helvetica Neue"/>
                <a:cs typeface="Helvetica Neue"/>
              </a:rPr>
              <a:t>Peer reviewed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724912"/>
            <a:ext cx="10451592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68680" y="3236976"/>
            <a:ext cx="10451592" cy="0"/>
          </a:xfrm>
          <a:prstGeom prst="bentConnector3">
            <a:avLst/>
          </a:prstGeom>
          <a:ln w="1270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96695" y="2724912"/>
            <a:ext cx="302414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1">
                <a:solidFill>
                  <a:srgbClr val="1B1B1A"/>
                </a:solidFill>
                <a:latin typeface="Helvetica Neue"/>
                <a:cs typeface="Helvetica Neue"/>
              </a:rPr>
              <a:t>Preprint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40293" y="2724912"/>
            <a:ext cx="21832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2958" y="2724912"/>
            <a:ext cx="21832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5623" y="2724912"/>
            <a:ext cx="21832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No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3236976"/>
            <a:ext cx="10451592" cy="512064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68680" y="3749039"/>
            <a:ext cx="10451592" cy="0"/>
          </a:xfrm>
          <a:prstGeom prst="bentConnector3">
            <a:avLst/>
          </a:prstGeom>
          <a:ln w="1270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96695" y="3236976"/>
            <a:ext cx="302414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1">
                <a:solidFill>
                  <a:srgbClr val="1B1B1A"/>
                </a:solidFill>
                <a:latin typeface="Helvetica Neue"/>
                <a:cs typeface="Helvetica Neue"/>
              </a:rPr>
              <a:t>Workshop paper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0293" y="3236976"/>
            <a:ext cx="21832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Weeks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2958" y="3236976"/>
            <a:ext cx="21832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Free to submit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5623" y="3236976"/>
            <a:ext cx="21832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Yes, light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3749039"/>
            <a:ext cx="10451592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68680" y="4261104"/>
            <a:ext cx="10451592" cy="0"/>
          </a:xfrm>
          <a:prstGeom prst="bentConnector3">
            <a:avLst/>
          </a:prstGeom>
          <a:ln w="1270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96695" y="3749039"/>
            <a:ext cx="302414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1">
                <a:solidFill>
                  <a:srgbClr val="1B1B1A"/>
                </a:solidFill>
                <a:latin typeface="Helvetica Neue"/>
                <a:cs typeface="Helvetica Neue"/>
              </a:rPr>
              <a:t>Conference paper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40293" y="3749039"/>
            <a:ext cx="21832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A few months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2958" y="3749039"/>
            <a:ext cx="21832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Fee to present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5623" y="3749039"/>
            <a:ext cx="21832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Yes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4261104"/>
            <a:ext cx="10451592" cy="512064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868680" y="4773168"/>
            <a:ext cx="10451592" cy="0"/>
          </a:xfrm>
          <a:prstGeom prst="bentConnector3">
            <a:avLst/>
          </a:prstGeom>
          <a:ln w="1270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96695" y="4261104"/>
            <a:ext cx="302414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1">
                <a:solidFill>
                  <a:srgbClr val="1B1B1A"/>
                </a:solidFill>
                <a:latin typeface="Helvetica Neue"/>
                <a:cs typeface="Helvetica Neue"/>
              </a:rPr>
              <a:t>Journal article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40293" y="4261104"/>
            <a:ext cx="21832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6 to 18 months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42958" y="4261104"/>
            <a:ext cx="21832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Free or APC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45623" y="4261104"/>
            <a:ext cx="21832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Yes, thorough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4773168"/>
            <a:ext cx="10451592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868680" y="5285232"/>
            <a:ext cx="10451592" cy="0"/>
          </a:xfrm>
          <a:prstGeom prst="bentConnector3">
            <a:avLst/>
          </a:prstGeom>
          <a:ln w="1270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96695" y="4773168"/>
            <a:ext cx="302414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1">
                <a:solidFill>
                  <a:srgbClr val="1B1B1A"/>
                </a:solidFill>
                <a:latin typeface="Helvetica Neue"/>
                <a:cs typeface="Helvetica Neue"/>
              </a:rPr>
              <a:t>Thesis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40293" y="4773168"/>
            <a:ext cx="21832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Set by degree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42958" y="4773168"/>
            <a:ext cx="21832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Free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45623" y="4773168"/>
            <a:ext cx="21832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No, examined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8680" y="5486400"/>
            <a:ext cx="10451592" cy="804671"/>
          </a:xfrm>
          <a:prstGeom prst="rect">
            <a:avLst/>
          </a:prstGeom>
          <a:solidFill>
            <a:srgbClr val="EC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lnSpc>
                <a:spcPct val="116000"/>
              </a:lnSpc>
            </a:pPr>
            <a:r>
              <a:rPr sz="1400" b="1" spc="140">
                <a:solidFill>
                  <a:srgbClr val="23439B"/>
                </a:solidFill>
                <a:latin typeface="Helvetica Neue"/>
                <a:cs typeface="Helvetica Neue"/>
              </a:rPr>
              <a:t>PICK ONE   </a:t>
            </a:r>
            <a:r>
              <a:rPr sz="1600">
                <a:solidFill>
                  <a:srgbClr val="1B1B1A"/>
                </a:solidFill>
                <a:latin typeface="Helvetica Neue"/>
                <a:cs typeface="Helvetica Neue"/>
              </a:rPr>
              <a:t>Match the home to how finished and how urgent the work is. One project can become several.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77824" y="5486400"/>
            <a:ext cx="0" cy="804671"/>
          </a:xfrm>
          <a:prstGeom prst="bentConnector3">
            <a:avLst/>
          </a:prstGeom>
          <a:ln w="50800">
            <a:solidFill>
              <a:srgbClr val="234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686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spc="160">
                <a:solidFill>
                  <a:srgbClr val="6E6A62"/>
                </a:solidFill>
                <a:latin typeface="Helvetica Neue"/>
                <a:cs typeface="Helvetica Neue"/>
              </a:rPr>
              <a:t>BTAJI CREW   /   PUBLISHING YOUR RESEARCH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6419088"/>
            <a:ext cx="13075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6E6A62"/>
                </a:solidFill>
                <a:latin typeface="Menlo"/>
                <a:cs typeface="Menl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439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7373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spc="300">
                <a:solidFill>
                  <a:srgbClr val="CBCED6"/>
                </a:solidFill>
                <a:latin typeface="Helvetica Neue"/>
                <a:cs typeface="Helvetica Neue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03120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5000" b="1">
                <a:solidFill>
                  <a:srgbClr val="FFFFFF"/>
                </a:solidFill>
                <a:latin typeface="Georgia"/>
                <a:cs typeface="Georgia"/>
              </a:rPr>
              <a:t>Preprints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3977639"/>
            <a:ext cx="2743200" cy="0"/>
          </a:xfrm>
          <a:prstGeom prst="bentConnector3">
            <a:avLst/>
          </a:prstGeom>
          <a:ln w="304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68680" y="420624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i="1">
                <a:solidFill>
                  <a:srgbClr val="E7E6E1"/>
                </a:solidFill>
                <a:latin typeface="Georgia"/>
                <a:cs typeface="Georgia"/>
              </a:rPr>
              <a:t>Publish first, free, and timestamped.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585216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CBCED6"/>
                </a:solidFill>
                <a:latin typeface="Menlo"/>
                <a:cs typeface="Menlo"/>
              </a:rPr>
              <a:t>01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104515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spc="240">
                <a:solidFill>
                  <a:srgbClr val="23439B"/>
                </a:solidFill>
                <a:latin typeface="Helvetica Neue"/>
                <a:cs typeface="Helvetica Neue"/>
              </a:rPr>
              <a:t>WHAT A PREPRINT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932688"/>
            <a:ext cx="1045159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400" b="1">
                <a:solidFill>
                  <a:srgbClr val="1B1B1A"/>
                </a:solidFill>
                <a:latin typeface="Georgia"/>
                <a:cs typeface="Georgia"/>
              </a:rPr>
              <a:t>A public draft, posted now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1783080"/>
            <a:ext cx="10451592" cy="0"/>
          </a:xfrm>
          <a:prstGeom prst="bentConnector3">
            <a:avLst/>
          </a:prstGeom>
          <a:ln w="1778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68680" y="2240280"/>
            <a:ext cx="6675120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9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900">
                <a:solidFill>
                  <a:srgbClr val="1B1B1A"/>
                </a:solidFill>
                <a:latin typeface="Helvetica Neue"/>
                <a:cs typeface="Helvetica Neue"/>
              </a:rPr>
              <a:t>A full draft posted before or with journal or conference submission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9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900">
                <a:solidFill>
                  <a:srgbClr val="1B1B1A"/>
                </a:solidFill>
                <a:latin typeface="Helvetica Neue"/>
                <a:cs typeface="Helvetica Neue"/>
              </a:rPr>
              <a:t>Free, timestamped, and citable with a stable link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9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900">
                <a:solidFill>
                  <a:srgbClr val="1B1B1A"/>
                </a:solidFill>
                <a:latin typeface="Helvetica Neue"/>
                <a:cs typeface="Helvetica Neue"/>
              </a:rPr>
              <a:t>Read and cited now while slow review runs in the background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9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900">
                <a:solidFill>
                  <a:srgbClr val="1B1B1A"/>
                </a:solidFill>
                <a:latin typeface="Helvetica Neue"/>
                <a:cs typeface="Helvetica Neue"/>
              </a:rPr>
              <a:t>Creates a public timestamp showing when the work was disclosed.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9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900">
                <a:solidFill>
                  <a:srgbClr val="1B1B1A"/>
                </a:solidFill>
                <a:latin typeface="Helvetica Neue"/>
                <a:cs typeface="Helvetica Neue"/>
              </a:rPr>
              <a:t>Not peer reviewed, so credibility rests on the work itself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2286000"/>
            <a:ext cx="3502152" cy="3291840"/>
          </a:xfrm>
          <a:prstGeom prst="rect">
            <a:avLst/>
          </a:prstGeom>
          <a:solidFill>
            <a:srgbClr val="EC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/>
          <a:lstStyle/>
          <a:p>
            <a:pPr algn="ctr"/>
            <a:r>
              <a:rPr sz="1200" b="1" spc="160">
                <a:solidFill>
                  <a:srgbClr val="23439B"/>
                </a:solidFill>
                <a:latin typeface="Helvetica Neue"/>
                <a:cs typeface="Helvetica Neue"/>
              </a:rPr>
              <a:t>FOR YOUR FIRST PAPER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700" i="1">
                <a:solidFill>
                  <a:srgbClr val="1B1B1A"/>
                </a:solidFill>
                <a:latin typeface="Georgia"/>
                <a:cs typeface="Georgia"/>
              </a:rPr>
              <a:t>Posting is usually free once the manuscript and policy checks are complete.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836408" y="2286000"/>
            <a:ext cx="0" cy="3291840"/>
          </a:xfrm>
          <a:prstGeom prst="bentConnector3">
            <a:avLst/>
          </a:prstGeom>
          <a:ln w="50800">
            <a:solidFill>
              <a:srgbClr val="234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686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spc="160">
                <a:solidFill>
                  <a:srgbClr val="6E6A62"/>
                </a:solidFill>
                <a:latin typeface="Helvetica Neue"/>
                <a:cs typeface="Helvetica Neue"/>
              </a:rPr>
              <a:t>BTAJI CREW   /   PUBLISHING YOUR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19088"/>
            <a:ext cx="13075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6E6A62"/>
                </a:solidFill>
                <a:latin typeface="Menlo"/>
                <a:cs typeface="Menl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104515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spc="240">
                <a:solidFill>
                  <a:srgbClr val="23439B"/>
                </a:solidFill>
                <a:latin typeface="Helvetica Neue"/>
                <a:cs typeface="Helvetica Neue"/>
              </a:rPr>
              <a:t>ASK BEFORE YOU POST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932688"/>
            <a:ext cx="1045159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400" b="1">
                <a:solidFill>
                  <a:srgbClr val="1B1B1A"/>
                </a:solidFill>
                <a:latin typeface="Georgia"/>
                <a:cs typeface="Georgia"/>
              </a:rPr>
              <a:t>Six checks before a preprint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1783080"/>
            <a:ext cx="10451592" cy="0"/>
          </a:xfrm>
          <a:prstGeom prst="bentConnector3">
            <a:avLst/>
          </a:prstGeom>
          <a:ln w="1778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68680" y="2240280"/>
            <a:ext cx="10451592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8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800">
                <a:solidFill>
                  <a:srgbClr val="1B1B1A"/>
                </a:solidFill>
                <a:latin typeface="Helvetica Neue"/>
                <a:cs typeface="Helvetica Neue"/>
              </a:rPr>
              <a:t>Is the manuscript complete enough to make permanently public?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8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800">
                <a:solidFill>
                  <a:srgbClr val="1B1B1A"/>
                </a:solidFill>
                <a:latin typeface="Helvetica Neue"/>
                <a:cs typeface="Helvetica Neue"/>
              </a:rPr>
              <a:t>Does the target journal or conference allow preprints?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8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800">
                <a:solidFill>
                  <a:srgbClr val="1B1B1A"/>
                </a:solidFill>
                <a:latin typeface="Helvetica Neue"/>
                <a:cs typeface="Helvetica Neue"/>
              </a:rPr>
              <a:t>Which preprint server fits the field (arXiv cs and eess, Preprints.org, medRxiv, TechRxiv)?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8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800">
                <a:solidFill>
                  <a:srgbClr val="1B1B1A"/>
                </a:solidFill>
                <a:latin typeface="Helvetica Neue"/>
                <a:cs typeface="Helvetica Neue"/>
              </a:rPr>
              <a:t>Is endorsement required?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8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800">
                <a:solidFill>
                  <a:srgbClr val="1B1B1A"/>
                </a:solidFill>
                <a:latin typeface="Helvetica Neue"/>
                <a:cs typeface="Helvetica Neue"/>
              </a:rPr>
              <a:t>Which licence should I choose?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8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800">
                <a:solidFill>
                  <a:srgbClr val="1B1B1A"/>
                </a:solidFill>
                <a:latin typeface="Helvetica Neue"/>
                <a:cs typeface="Helvetica Neue"/>
              </a:rPr>
              <a:t>What should I update after formal acceptance?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spc="160">
                <a:solidFill>
                  <a:srgbClr val="6E6A62"/>
                </a:solidFill>
                <a:latin typeface="Helvetica Neue"/>
                <a:cs typeface="Helvetica Neue"/>
              </a:rPr>
              <a:t>BTAJI CREW   /   PUBLISHING YOUR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6E6A62"/>
                </a:solidFill>
                <a:latin typeface="Menlo"/>
                <a:cs typeface="Menl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6E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7373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spc="300">
                <a:solidFill>
                  <a:srgbClr val="CBCED6"/>
                </a:solidFill>
                <a:latin typeface="Helvetica Neue"/>
                <a:cs typeface="Helvetica Neue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03120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5000" b="1">
                <a:solidFill>
                  <a:srgbClr val="FFFFFF"/>
                </a:solidFill>
                <a:latin typeface="Georgia"/>
                <a:cs typeface="Georgia"/>
              </a:rPr>
              <a:t>Conferences and workshops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3977639"/>
            <a:ext cx="2743200" cy="0"/>
          </a:xfrm>
          <a:prstGeom prst="bentConnector3">
            <a:avLst/>
          </a:prstGeom>
          <a:ln w="304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68680" y="420624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i="1">
                <a:solidFill>
                  <a:srgbClr val="E7E6E1"/>
                </a:solidFill>
                <a:latin typeface="Georgia"/>
                <a:cs typeface="Georgia"/>
              </a:rPr>
              <a:t>Fast, peer reviewed, and you present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585216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CBCED6"/>
                </a:solidFill>
                <a:latin typeface="Menlo"/>
                <a:cs typeface="Menlo"/>
              </a:rPr>
              <a:t>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104515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spc="240">
                <a:solidFill>
                  <a:srgbClr val="23439B"/>
                </a:solidFill>
                <a:latin typeface="Helvetica Neue"/>
                <a:cs typeface="Helvetica Neue"/>
              </a:rPr>
              <a:t>CONFERENCES AND WORKSHOPS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932688"/>
            <a:ext cx="1045159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400" b="1">
                <a:solidFill>
                  <a:srgbClr val="1B1B1A"/>
                </a:solidFill>
                <a:latin typeface="Georgia"/>
                <a:cs typeface="Georgia"/>
              </a:rPr>
              <a:t>A conference paper is a great first target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1783080"/>
            <a:ext cx="10451592" cy="0"/>
          </a:xfrm>
          <a:prstGeom prst="bentConnector3">
            <a:avLst/>
          </a:prstGeom>
          <a:ln w="1778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68680" y="2240280"/>
            <a:ext cx="6675120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9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900">
                <a:solidFill>
                  <a:srgbClr val="1B1B1A"/>
                </a:solidFill>
                <a:latin typeface="Helvetica Neue"/>
                <a:cs typeface="Helvetica Neue"/>
              </a:rPr>
              <a:t>In CS and ML, the conference is often the main venue, not the journal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9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900">
                <a:solidFill>
                  <a:srgbClr val="1B1B1A"/>
                </a:solidFill>
                <a:latin typeface="Helvetica Neue"/>
                <a:cs typeface="Helvetica Neue"/>
              </a:rPr>
              <a:t>Peer reviewed and, when archival, published as a citable proceedings paper.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9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900">
                <a:solidFill>
                  <a:srgbClr val="1B1B1A"/>
                </a:solidFill>
                <a:latin typeface="Helvetica Neue"/>
                <a:cs typeface="Helvetica Neue"/>
              </a:rPr>
              <a:t>Fast, fixed deadline cycle, usually under a year end to end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9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900">
                <a:solidFill>
                  <a:srgbClr val="1B1B1A"/>
                </a:solidFill>
                <a:latin typeface="Helvetica Neue"/>
                <a:cs typeface="Helvetica Neue"/>
              </a:rPr>
              <a:t>You present your work and meet researchers in person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9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900">
                <a:solidFill>
                  <a:srgbClr val="1B1B1A"/>
                </a:solidFill>
                <a:latin typeface="Helvetica Neue"/>
                <a:cs typeface="Helvetica Neue"/>
              </a:rPr>
              <a:t>Workshops are often a more accessible entry point.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2286000"/>
            <a:ext cx="3502152" cy="3291840"/>
          </a:xfrm>
          <a:prstGeom prst="rect">
            <a:avLst/>
          </a:prstGeom>
          <a:solidFill>
            <a:srgbClr val="EC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/>
          <a:lstStyle/>
          <a:p>
            <a:pPr algn="ctr"/>
            <a:r>
              <a:rPr sz="1200" b="1" spc="160">
                <a:solidFill>
                  <a:srgbClr val="23439B"/>
                </a:solidFill>
                <a:latin typeface="Helvetica Neue"/>
                <a:cs typeface="Helvetica Neue"/>
              </a:rPr>
              <a:t>NOT A VENUE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700" i="1">
                <a:solidFill>
                  <a:srgbClr val="1B1B1A"/>
                </a:solidFill>
                <a:latin typeface="Georgia"/>
                <a:cs typeface="Georgia"/>
              </a:rPr>
              <a:t>OpenReview, CMT, and EasyChair are submission-management platforms. They handle the paperwork; they do not publish or rank anything.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836408" y="2286000"/>
            <a:ext cx="0" cy="3291840"/>
          </a:xfrm>
          <a:prstGeom prst="bentConnector3">
            <a:avLst/>
          </a:prstGeom>
          <a:ln w="50800">
            <a:solidFill>
              <a:srgbClr val="234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686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spc="160">
                <a:solidFill>
                  <a:srgbClr val="6E6A62"/>
                </a:solidFill>
                <a:latin typeface="Helvetica Neue"/>
                <a:cs typeface="Helvetica Neue"/>
              </a:rPr>
              <a:t>BTAJI CREW   /   PUBLISHING YOUR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19088"/>
            <a:ext cx="13075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6E6A62"/>
                </a:solidFill>
                <a:latin typeface="Menlo"/>
                <a:cs typeface="Menl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104515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spc="240">
                <a:solidFill>
                  <a:srgbClr val="23439B"/>
                </a:solidFill>
                <a:latin typeface="Helvetica Neue"/>
                <a:cs typeface="Helvetica Neue"/>
              </a:rPr>
              <a:t>HOW VENUES ARE RANKED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932688"/>
            <a:ext cx="1045159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200" b="1">
                <a:solidFill>
                  <a:srgbClr val="1B1B1A"/>
                </a:solidFill>
                <a:latin typeface="Georgia"/>
                <a:cs typeface="Georgia"/>
              </a:rPr>
              <a:t>Conference tiers, with examples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1783080"/>
            <a:ext cx="10451592" cy="0"/>
          </a:xfrm>
          <a:prstGeom prst="bentConnector3">
            <a:avLst/>
          </a:prstGeom>
          <a:ln w="1778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868680" y="2331720"/>
            <a:ext cx="10451592" cy="548640"/>
          </a:xfrm>
          <a:prstGeom prst="rect">
            <a:avLst/>
          </a:prstGeom>
          <a:solidFill>
            <a:srgbClr val="234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331720"/>
            <a:ext cx="402895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Helvetica Neue"/>
                <a:cs typeface="Helvetica Neue"/>
              </a:rPr>
              <a:t>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8531" y="2331720"/>
            <a:ext cx="293699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Helvetica Neue"/>
                <a:cs typeface="Helvetica Neue"/>
              </a:rPr>
              <a:t>What it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8409" y="2331720"/>
            <a:ext cx="293699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Helvetica Neue"/>
                <a:cs typeface="Helvetica Neue"/>
              </a:rPr>
              <a:t>Named examples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880360"/>
            <a:ext cx="1045159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68680" y="3447288"/>
            <a:ext cx="10451592" cy="0"/>
          </a:xfrm>
          <a:prstGeom prst="bentConnector3">
            <a:avLst/>
          </a:prstGeom>
          <a:ln w="1270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96695" y="2880360"/>
            <a:ext cx="39923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1">
                <a:solidFill>
                  <a:srgbClr val="1B1B1A"/>
                </a:solidFill>
                <a:latin typeface="Helvetica Neue"/>
                <a:cs typeface="Helvetica Neue"/>
              </a:rPr>
              <a:t>A*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08531" y="2880360"/>
            <a:ext cx="290042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World leading, most competitive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8409" y="2880360"/>
            <a:ext cx="290042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NeurIPS, ICML, ICLR, CVPR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447288"/>
            <a:ext cx="10451592" cy="566928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868680" y="4014215"/>
            <a:ext cx="10451592" cy="0"/>
          </a:xfrm>
          <a:prstGeom prst="bentConnector3">
            <a:avLst/>
          </a:prstGeom>
          <a:ln w="1270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96695" y="3447288"/>
            <a:ext cx="39923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1">
                <a:solidFill>
                  <a:srgbClr val="1B1B1A"/>
                </a:solidFill>
                <a:latin typeface="Helvetica Neue"/>
                <a:cs typeface="Helvetica Neue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8531" y="3447288"/>
            <a:ext cx="290042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Excellent, highly respected international 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8409" y="3447288"/>
            <a:ext cx="290042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(top society venues)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4014215"/>
            <a:ext cx="1045159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68680" y="4581144"/>
            <a:ext cx="10451592" cy="0"/>
          </a:xfrm>
          <a:prstGeom prst="bentConnector3">
            <a:avLst/>
          </a:prstGeom>
          <a:ln w="1270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96695" y="4014215"/>
            <a:ext cx="39923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1">
                <a:solidFill>
                  <a:srgbClr val="1B1B1A"/>
                </a:solidFill>
                <a:latin typeface="Helvetica Neue"/>
                <a:cs typeface="Helvetica Neue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8531" y="4014215"/>
            <a:ext cx="290042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Solid, respected; strong target for good early 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8409" y="4014215"/>
            <a:ext cx="290042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(reputable IEEE/ACM)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4581144"/>
            <a:ext cx="10451592" cy="566928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868680" y="5148072"/>
            <a:ext cx="10451592" cy="0"/>
          </a:xfrm>
          <a:prstGeom prst="bentConnector3">
            <a:avLst/>
          </a:prstGeom>
          <a:ln w="1270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96695" y="4581144"/>
            <a:ext cx="39923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1">
                <a:solidFill>
                  <a:srgbClr val="1B1B1A"/>
                </a:solidFill>
                <a:latin typeface="Helvetica Neue"/>
                <a:cs typeface="Helvetica Neue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08531" y="4581144"/>
            <a:ext cx="290042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Recognized, normal peer review; fair first target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8409" y="4581144"/>
            <a:ext cx="290042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(regional IEEE/ACM)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" y="5349240"/>
            <a:ext cx="10451592" cy="941832"/>
          </a:xfrm>
          <a:prstGeom prst="rect">
            <a:avLst/>
          </a:prstGeom>
          <a:solidFill>
            <a:srgbClr val="EC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lnSpc>
                <a:spcPct val="116000"/>
              </a:lnSpc>
            </a:pPr>
            <a:r>
              <a:rPr sz="1400" b="1" spc="140">
                <a:solidFill>
                  <a:srgbClr val="23439B"/>
                </a:solidFill>
                <a:latin typeface="Helvetica Neue"/>
                <a:cs typeface="Helvetica Neue"/>
              </a:rPr>
              <a:t>VERIFY   </a:t>
            </a:r>
            <a:r>
              <a:rPr sz="1600">
                <a:solidFill>
                  <a:srgbClr val="1B1B1A"/>
                </a:solidFill>
                <a:latin typeface="Helvetica Neue"/>
                <a:cs typeface="Helvetica Neue"/>
              </a:rPr>
              <a:t>Rankings change: check the CORE Portal. Some specialised venues (for example Computing in Cardiology) are respected even without a simple letter.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77824" y="5349240"/>
            <a:ext cx="0" cy="941832"/>
          </a:xfrm>
          <a:prstGeom prst="bentConnector3">
            <a:avLst/>
          </a:prstGeom>
          <a:ln w="50800">
            <a:solidFill>
              <a:srgbClr val="234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686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spc="160">
                <a:solidFill>
                  <a:srgbClr val="6E6A62"/>
                </a:solidFill>
                <a:latin typeface="Helvetica Neue"/>
                <a:cs typeface="Helvetica Neue"/>
              </a:rPr>
              <a:t>BTAJI CREW   /   PUBLISHING YOUR RESEARCH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419088"/>
            <a:ext cx="13075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6E6A62"/>
                </a:solidFill>
                <a:latin typeface="Menlo"/>
                <a:cs typeface="Menl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104515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spc="240">
                <a:solidFill>
                  <a:srgbClr val="23439B"/>
                </a:solidFill>
                <a:latin typeface="Helvetica Neue"/>
                <a:cs typeface="Helvetica Neue"/>
              </a:rPr>
              <a:t>AFTER ACCEPTANCE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932688"/>
            <a:ext cx="1045159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400" b="1">
                <a:solidFill>
                  <a:srgbClr val="1B1B1A"/>
                </a:solidFill>
                <a:latin typeface="Georgia"/>
                <a:cs typeface="Georgia"/>
              </a:rPr>
              <a:t>Where an accepted paper actually gets published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1783080"/>
            <a:ext cx="10451592" cy="0"/>
          </a:xfrm>
          <a:prstGeom prst="bentConnector3">
            <a:avLst/>
          </a:prstGeom>
          <a:ln w="1778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68680" y="2240280"/>
            <a:ext cx="10451592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6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600">
                <a:solidFill>
                  <a:srgbClr val="1B1B1A"/>
                </a:solidFill>
                <a:latin typeface="Helvetica Neue"/>
                <a:cs typeface="Helvetica Neue"/>
              </a:rPr>
              <a:t>Acceptance alone does not put you in IEEE Xplore or ACM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6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600">
                <a:solidFill>
                  <a:srgbClr val="1B1B1A"/>
                </a:solidFill>
                <a:latin typeface="Helvetica Neue"/>
                <a:cs typeface="Helvetica Neue"/>
              </a:rPr>
              <a:t>It is indexed only if that edition has official proceedings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6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600">
                <a:solidFill>
                  <a:srgbClr val="1B1B1A"/>
                </a:solidFill>
                <a:latin typeface="Helvetica Neue"/>
                <a:cs typeface="Helvetica Neue"/>
              </a:rPr>
              <a:t>And only after you finish camera-ready, registration, and presentation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6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600">
                <a:solidFill>
                  <a:srgbClr val="1B1B1A"/>
                </a:solidFill>
                <a:latin typeface="Helvetica Neue"/>
                <a:cs typeface="Helvetica Neue"/>
              </a:rPr>
              <a:t>Possible homes: IEEE Xplore, ACM DL, Springer LNCS, CEUR-WS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6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600">
                <a:solidFill>
                  <a:srgbClr val="1B1B1A"/>
                </a:solidFill>
                <a:latin typeface="Helvetica Neue"/>
                <a:cs typeface="Helvetica Neue"/>
              </a:rPr>
              <a:t>Or just the workshop website, or nowhere formal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6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600">
                <a:solidFill>
                  <a:srgbClr val="1B1B1A"/>
                </a:solidFill>
                <a:latin typeface="Helvetica Neue"/>
                <a:cs typeface="Helvetica Neue"/>
              </a:rPr>
              <a:t>Archival: a permanent, citable published record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6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600">
                <a:solidFill>
                  <a:srgbClr val="1B1B1A"/>
                </a:solidFill>
                <a:latin typeface="Helvetica Neue"/>
                <a:cs typeface="Helvetica Neue"/>
              </a:rPr>
              <a:t>Non-archival: no formal proceedings paper; later submission may be possible, subject to both venues' policies.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spc="160">
                <a:solidFill>
                  <a:srgbClr val="6E6A62"/>
                </a:solidFill>
                <a:latin typeface="Helvetica Neue"/>
                <a:cs typeface="Helvetica Neue"/>
              </a:rPr>
              <a:t>BTAJI CREW   /   PUBLISHING YOUR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6E6A62"/>
                </a:solidFill>
                <a:latin typeface="Menlo"/>
                <a:cs typeface="Menl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104515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spc="240">
                <a:solidFill>
                  <a:srgbClr val="23439B"/>
                </a:solidFill>
                <a:latin typeface="Helvetica Neue"/>
                <a:cs typeface="Helvetica Neue"/>
              </a:rPr>
              <a:t>ASK BEFORE YOU SUBMIT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932688"/>
            <a:ext cx="1045159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400" b="1">
                <a:solidFill>
                  <a:srgbClr val="1B1B1A"/>
                </a:solidFill>
                <a:latin typeface="Georgia"/>
                <a:cs typeface="Georgia"/>
              </a:rPr>
              <a:t>Six questions before you submit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1783080"/>
            <a:ext cx="10451592" cy="0"/>
          </a:xfrm>
          <a:prstGeom prst="bentConnector3">
            <a:avLst/>
          </a:prstGeom>
          <a:ln w="1778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68680" y="2240280"/>
            <a:ext cx="10451592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8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800">
                <a:solidFill>
                  <a:srgbClr val="1B1B1A"/>
                </a:solidFill>
                <a:latin typeface="Helvetica Neue"/>
                <a:cs typeface="Helvetica Neue"/>
              </a:rPr>
              <a:t>Is the event genuinely peer reviewed?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8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800">
                <a:solidFill>
                  <a:srgbClr val="1B1B1A"/>
                </a:solidFill>
                <a:latin typeface="Helvetica Neue"/>
                <a:cs typeface="Helvetica Neue"/>
              </a:rPr>
              <a:t>Is the paper archival or non-archival?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8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800">
                <a:solidFill>
                  <a:srgbClr val="1B1B1A"/>
                </a:solidFill>
                <a:latin typeface="Helvetica Neue"/>
                <a:cs typeface="Helvetica Neue"/>
              </a:rPr>
              <a:t>Where will the accepted paper be published (Xplore, ACM, Springer, CEUR, website, or nowhere)?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8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800">
                <a:solidFill>
                  <a:srgbClr val="1B1B1A"/>
                </a:solidFill>
                <a:latin typeface="Helvetica Neue"/>
                <a:cs typeface="Helvetica Neue"/>
              </a:rPr>
              <a:t>Is author registration required after acceptance, and how much?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8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800">
                <a:solidFill>
                  <a:srgbClr val="1B1B1A"/>
                </a:solidFill>
                <a:latin typeface="Helvetica Neue"/>
                <a:cs typeface="Helvetica Neue"/>
              </a:rPr>
              <a:t>Is online presentation available, or must an author attend and present?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8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800">
                <a:solidFill>
                  <a:srgbClr val="1B1B1A"/>
                </a:solidFill>
                <a:latin typeface="Helvetica Neue"/>
                <a:cs typeface="Helvetica Neue"/>
              </a:rPr>
              <a:t>Is this edition officially sponsored and indexed?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spc="160">
                <a:solidFill>
                  <a:srgbClr val="6E6A62"/>
                </a:solidFill>
                <a:latin typeface="Helvetica Neue"/>
                <a:cs typeface="Helvetica Neue"/>
              </a:rPr>
              <a:t>BTAJI CREW   /   PUBLISHING YOUR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6E6A62"/>
                </a:solidFill>
                <a:latin typeface="Menlo"/>
                <a:cs typeface="Menl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2A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7373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spc="300">
                <a:solidFill>
                  <a:srgbClr val="CBCED6"/>
                </a:solidFill>
                <a:latin typeface="Helvetica Neue"/>
                <a:cs typeface="Helvetica Neue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03120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5000" b="1">
                <a:solidFill>
                  <a:srgbClr val="FFFFFF"/>
                </a:solidFill>
                <a:latin typeface="Georgia"/>
                <a:cs typeface="Georgia"/>
              </a:rPr>
              <a:t>Journals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3977639"/>
            <a:ext cx="2743200" cy="0"/>
          </a:xfrm>
          <a:prstGeom prst="bentConnector3">
            <a:avLst/>
          </a:prstGeom>
          <a:ln w="304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68680" y="420624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i="1">
                <a:solidFill>
                  <a:srgbClr val="E7E6E1"/>
                </a:solidFill>
                <a:latin typeface="Georgia"/>
                <a:cs typeface="Georgia"/>
              </a:rPr>
              <a:t>The gold standard, and how they are ranked.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585216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CBCED6"/>
                </a:solidFill>
                <a:latin typeface="Menlo"/>
                <a:cs typeface="Menlo"/>
              </a:rPr>
              <a:t>03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104515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spc="240">
                <a:solidFill>
                  <a:srgbClr val="23439B"/>
                </a:solidFill>
                <a:latin typeface="Helvetica Neue"/>
                <a:cs typeface="Helvetica Neue"/>
              </a:rPr>
              <a:t>TWO SEPARATE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932688"/>
            <a:ext cx="1045159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400" b="1">
                <a:solidFill>
                  <a:srgbClr val="1B1B1A"/>
                </a:solidFill>
                <a:latin typeface="Georgia"/>
                <a:cs typeface="Georgia"/>
              </a:rPr>
              <a:t>Is the journal good? That is really two questions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1783080"/>
            <a:ext cx="10451592" cy="0"/>
          </a:xfrm>
          <a:prstGeom prst="bentConnector3">
            <a:avLst/>
          </a:prstGeom>
          <a:ln w="1778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68680" y="2240280"/>
            <a:ext cx="10451592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9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900">
                <a:solidFill>
                  <a:srgbClr val="1B1B1A"/>
                </a:solidFill>
                <a:latin typeface="Helvetica Neue"/>
                <a:cs typeface="Helvetica Neue"/>
              </a:rPr>
              <a:t>Indexing: is it in a trusted database (Scopus, Web of Science, PubMed)?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9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900">
                <a:solidFill>
                  <a:srgbClr val="1B1B1A"/>
                </a:solidFill>
                <a:latin typeface="Helvetica Neue"/>
                <a:cs typeface="Helvetica Neue"/>
              </a:rPr>
              <a:t>Metrics: how influential is it versus similar journals?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9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900">
                <a:solidFill>
                  <a:srgbClr val="1B1B1A"/>
                </a:solidFill>
                <a:latin typeface="Helvetica Neue"/>
                <a:cs typeface="Helvetica Neue"/>
              </a:rPr>
              <a:t>Indexing drives recognition and your HEC standing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9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900">
                <a:solidFill>
                  <a:srgbClr val="1B1B1A"/>
                </a:solidFill>
                <a:latin typeface="Helvetica Neue"/>
                <a:cs typeface="Helvetica Neue"/>
              </a:rPr>
              <a:t>Metrics drive reputation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9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900">
                <a:solidFill>
                  <a:srgbClr val="1B1B1A"/>
                </a:solidFill>
                <a:latin typeface="Helvetica Neue"/>
                <a:cs typeface="Helvetica Neue"/>
              </a:rPr>
              <a:t>Keep the two questions separate, do not blur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spc="160">
                <a:solidFill>
                  <a:srgbClr val="6E6A62"/>
                </a:solidFill>
                <a:latin typeface="Helvetica Neue"/>
                <a:cs typeface="Helvetica Neue"/>
              </a:rPr>
              <a:t>BTAJI CREW   /   PUBLISHING YOUR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6E6A62"/>
                </a:solidFill>
                <a:latin typeface="Menlo"/>
                <a:cs typeface="Menl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104515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spc="240">
                <a:solidFill>
                  <a:srgbClr val="23439B"/>
                </a:solidFill>
                <a:latin typeface="Helvetica Neue"/>
                <a:cs typeface="Helvetica Neue"/>
              </a:rPr>
              <a:t>READING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932688"/>
            <a:ext cx="1045159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200" b="1">
                <a:solidFill>
                  <a:srgbClr val="1B1B1A"/>
                </a:solidFill>
                <a:latin typeface="Georgia"/>
                <a:cs typeface="Georgia"/>
              </a:rPr>
              <a:t>The metrics in plain words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1783080"/>
            <a:ext cx="10451592" cy="0"/>
          </a:xfrm>
          <a:prstGeom prst="bentConnector3">
            <a:avLst/>
          </a:prstGeom>
          <a:ln w="1778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868680" y="2212848"/>
            <a:ext cx="10451592" cy="512064"/>
          </a:xfrm>
          <a:prstGeom prst="rect">
            <a:avLst/>
          </a:prstGeom>
          <a:solidFill>
            <a:srgbClr val="234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212848"/>
            <a:ext cx="4028955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Helvetica Neue"/>
                <a:cs typeface="Helvetica Neue"/>
              </a:rPr>
              <a:t>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8531" y="2212848"/>
            <a:ext cx="293699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Helvetica Neue"/>
                <a:cs typeface="Helvetica Neue"/>
              </a:rPr>
              <a:t>Who runs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8409" y="2212848"/>
            <a:ext cx="293699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Helvetica Neue"/>
                <a:cs typeface="Helvetica Neue"/>
              </a:rPr>
              <a:t>Plain meaning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724912"/>
            <a:ext cx="10451592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68680" y="3236976"/>
            <a:ext cx="10451592" cy="0"/>
          </a:xfrm>
          <a:prstGeom prst="bentConnector3">
            <a:avLst/>
          </a:prstGeom>
          <a:ln w="1270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96695" y="2724912"/>
            <a:ext cx="3992379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1">
                <a:solidFill>
                  <a:srgbClr val="1B1B1A"/>
                </a:solidFill>
                <a:latin typeface="Helvetica Neue"/>
                <a:cs typeface="Helvetica Neue"/>
              </a:rPr>
              <a:t>JIF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08531" y="2724912"/>
            <a:ext cx="290042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Clarivate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8409" y="2724912"/>
            <a:ext cx="290042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Citations per recent article, 2 year window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236976"/>
            <a:ext cx="10451592" cy="512064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868680" y="3749039"/>
            <a:ext cx="10451592" cy="0"/>
          </a:xfrm>
          <a:prstGeom prst="bentConnector3">
            <a:avLst/>
          </a:prstGeom>
          <a:ln w="1270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96695" y="3236976"/>
            <a:ext cx="3992379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1">
                <a:solidFill>
                  <a:srgbClr val="1B1B1A"/>
                </a:solidFill>
                <a:latin typeface="Helvetica Neue"/>
                <a:cs typeface="Helvetica Neue"/>
              </a:rPr>
              <a:t>CiteScore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8531" y="3236976"/>
            <a:ext cx="290042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Elsevier, Scopus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8409" y="3236976"/>
            <a:ext cx="290042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Like JIF, but a 4 year window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3749039"/>
            <a:ext cx="10451592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68680" y="4261104"/>
            <a:ext cx="10451592" cy="0"/>
          </a:xfrm>
          <a:prstGeom prst="bentConnector3">
            <a:avLst/>
          </a:prstGeom>
          <a:ln w="1270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96695" y="3749039"/>
            <a:ext cx="3992379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1">
                <a:solidFill>
                  <a:srgbClr val="1B1B1A"/>
                </a:solidFill>
                <a:latin typeface="Helvetica Neue"/>
                <a:cs typeface="Helvetica Neue"/>
              </a:rPr>
              <a:t>SJR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8531" y="3749039"/>
            <a:ext cx="290042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SCImago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8409" y="3749039"/>
            <a:ext cx="290042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Citations weighted by the citing journal's prestige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4261104"/>
            <a:ext cx="10451592" cy="512064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868680" y="4773168"/>
            <a:ext cx="10451592" cy="0"/>
          </a:xfrm>
          <a:prstGeom prst="bentConnector3">
            <a:avLst/>
          </a:prstGeom>
          <a:ln w="1270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96695" y="4261104"/>
            <a:ext cx="3992379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1">
                <a:solidFill>
                  <a:srgbClr val="1B1B1A"/>
                </a:solidFill>
                <a:latin typeface="Helvetica Neue"/>
                <a:cs typeface="Helvetica Neue"/>
              </a:rPr>
              <a:t>h-index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08531" y="4261104"/>
            <a:ext cx="290042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Calculated by multiple databases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8409" y="4261104"/>
            <a:ext cx="290042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N papers that each have at least N citations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" y="4773168"/>
            <a:ext cx="10451592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868680" y="5285232"/>
            <a:ext cx="10451592" cy="0"/>
          </a:xfrm>
          <a:prstGeom prst="bentConnector3">
            <a:avLst/>
          </a:prstGeom>
          <a:ln w="1270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96695" y="4773168"/>
            <a:ext cx="3992379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1">
                <a:solidFill>
                  <a:srgbClr val="1B1B1A"/>
                </a:solidFill>
                <a:latin typeface="Helvetica Neue"/>
                <a:cs typeface="Helvetica Neue"/>
              </a:rPr>
              <a:t>Q1 to Q4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08531" y="4773168"/>
            <a:ext cx="290042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JCR or SCImago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8409" y="4773168"/>
            <a:ext cx="290042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Rank in the field, top 25 percent is Q1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5486400"/>
            <a:ext cx="10451592" cy="804671"/>
          </a:xfrm>
          <a:prstGeom prst="rect">
            <a:avLst/>
          </a:prstGeom>
          <a:solidFill>
            <a:srgbClr val="EC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lnSpc>
                <a:spcPct val="116000"/>
              </a:lnSpc>
            </a:pPr>
            <a:r>
              <a:rPr sz="1400" b="1" spc="140">
                <a:solidFill>
                  <a:srgbClr val="23439B"/>
                </a:solidFill>
                <a:latin typeface="Helvetica Neue"/>
                <a:cs typeface="Helvetica Neue"/>
              </a:rPr>
              <a:t>WATCH   </a:t>
            </a:r>
            <a:r>
              <a:rPr sz="1600">
                <a:solidFill>
                  <a:srgbClr val="1B1B1A"/>
                </a:solidFill>
                <a:latin typeface="Helvetica Neue"/>
                <a:cs typeface="Helvetica Neue"/>
              </a:rPr>
              <a:t>JIF now covers the full Web of Science Core Collection, including ESCI and AHCI. JCR and SJR quartiles may differ.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77824" y="5486400"/>
            <a:ext cx="0" cy="804671"/>
          </a:xfrm>
          <a:prstGeom prst="bentConnector3">
            <a:avLst/>
          </a:prstGeom>
          <a:ln w="50800">
            <a:solidFill>
              <a:srgbClr val="234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686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spc="160">
                <a:solidFill>
                  <a:srgbClr val="6E6A62"/>
                </a:solidFill>
                <a:latin typeface="Helvetica Neue"/>
                <a:cs typeface="Helvetica Neue"/>
              </a:rPr>
              <a:t>BTAJI CREW   /   PUBLISHING YOUR RESEARCH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6419088"/>
            <a:ext cx="13075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6E6A62"/>
                </a:solidFill>
                <a:latin typeface="Menlo"/>
                <a:cs typeface="Menlo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104515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spc="240">
                <a:solidFill>
                  <a:srgbClr val="23439B"/>
                </a:solidFill>
                <a:latin typeface="Helvetica Neue"/>
                <a:cs typeface="Helvetica Neue"/>
              </a:rPr>
              <a:t>BEFORE YOU CHOOSE A JOURNAL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932688"/>
            <a:ext cx="1045159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400" b="1">
                <a:solidFill>
                  <a:srgbClr val="1B1B1A"/>
                </a:solidFill>
                <a:latin typeface="Georgia"/>
                <a:cs typeface="Georgia"/>
              </a:rPr>
              <a:t>Run this checklist first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1783080"/>
            <a:ext cx="10451592" cy="0"/>
          </a:xfrm>
          <a:prstGeom prst="bentConnector3">
            <a:avLst/>
          </a:prstGeom>
          <a:ln w="1778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68680" y="2240280"/>
            <a:ext cx="10451592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5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500">
                <a:solidFill>
                  <a:srgbClr val="1B1B1A"/>
                </a:solidFill>
                <a:latin typeface="Helvetica Neue"/>
                <a:cs typeface="Helvetica Neue"/>
              </a:rPr>
              <a:t>Does the scope match my paper?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5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500">
                <a:solidFill>
                  <a:srgbClr val="1B1B1A"/>
                </a:solidFill>
                <a:latin typeface="Helvetica Neue"/>
                <a:cs typeface="Helvetica Neue"/>
              </a:rPr>
              <a:t>Is it indexed where I need it (Scopus, WoS, or HEC)?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5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500">
                <a:solidFill>
                  <a:srgbClr val="1B1B1A"/>
                </a:solidFill>
                <a:latin typeface="Helvetica Neue"/>
                <a:cs typeface="Helvetica Neue"/>
              </a:rPr>
              <a:t>If I need Pakistani recognition, is it currently in HEC HJRS?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5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500">
                <a:solidFill>
                  <a:srgbClr val="1B1B1A"/>
                </a:solidFill>
                <a:latin typeface="Helvetica Neue"/>
                <a:cs typeface="Helvetica Neue"/>
              </a:rPr>
              <a:t>What is its JCR or SJR quartile?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5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500">
                <a:solidFill>
                  <a:srgbClr val="1B1B1A"/>
                </a:solidFill>
                <a:latin typeface="Helvetica Neue"/>
                <a:cs typeface="Helvetica Neue"/>
              </a:rPr>
              <a:t>What is the APC or fee, and are waivers available?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5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500">
                <a:solidFill>
                  <a:srgbClr val="1B1B1A"/>
                </a:solidFill>
                <a:latin typeface="Helvetica Neue"/>
                <a:cs typeface="Helvetica Neue"/>
              </a:rPr>
              <a:t>What is the expected review time, and does it allow preprints?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5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500">
                <a:solidFill>
                  <a:srgbClr val="1B1B1A"/>
                </a:solidFill>
                <a:latin typeface="Helvetica Neue"/>
                <a:cs typeface="Helvetica Neue"/>
              </a:rPr>
              <a:t>Are all index and metric claims verifiable at the official source?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5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500">
                <a:solidFill>
                  <a:srgbClr val="1B1B1A"/>
                </a:solidFill>
                <a:latin typeface="Helvetica Neue"/>
                <a:cs typeface="Helvetica Neue"/>
              </a:rPr>
              <a:t>Any predatory warning signs?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spc="160">
                <a:solidFill>
                  <a:srgbClr val="6E6A62"/>
                </a:solidFill>
                <a:latin typeface="Helvetica Neue"/>
                <a:cs typeface="Helvetica Neue"/>
              </a:rPr>
              <a:t>BTAJI CREW   /   PUBLISHING YOUR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6E6A62"/>
                </a:solidFill>
                <a:latin typeface="Menlo"/>
                <a:cs typeface="Menlo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84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7373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spc="300">
                <a:solidFill>
                  <a:srgbClr val="CBCED6"/>
                </a:solidFill>
                <a:latin typeface="Helvetica Neue"/>
                <a:cs typeface="Helvetica Neue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03120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5000" b="1">
                <a:solidFill>
                  <a:srgbClr val="FFFFFF"/>
                </a:solidFill>
                <a:latin typeface="Georgia"/>
                <a:cs typeface="Georgia"/>
              </a:rPr>
              <a:t>The money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3977639"/>
            <a:ext cx="2743200" cy="0"/>
          </a:xfrm>
          <a:prstGeom prst="bentConnector3">
            <a:avLst/>
          </a:prstGeom>
          <a:ln w="304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68680" y="420624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i="1">
                <a:solidFill>
                  <a:srgbClr val="E7E6E1"/>
                </a:solidFill>
                <a:latin typeface="Georgia"/>
                <a:cs typeface="Georgia"/>
              </a:rPr>
              <a:t>Open access, closed access, and who pays.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585216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CBCED6"/>
                </a:solidFill>
                <a:latin typeface="Menlo"/>
                <a:cs typeface="Menlo"/>
              </a:rPr>
              <a:t>04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104515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spc="240">
                <a:solidFill>
                  <a:srgbClr val="23439B"/>
                </a:solidFill>
                <a:latin typeface="Helvetica Neue"/>
                <a:cs typeface="Helvetica Neue"/>
              </a:rPr>
              <a:t>OPEN ACCESS AND THE MONEY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932688"/>
            <a:ext cx="1045159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200" b="1">
                <a:solidFill>
                  <a:srgbClr val="1B1B1A"/>
                </a:solidFill>
                <a:latin typeface="Georgia"/>
                <a:cs typeface="Georgia"/>
              </a:rPr>
              <a:t>Five ways a paper gets paid for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1783080"/>
            <a:ext cx="10451592" cy="0"/>
          </a:xfrm>
          <a:prstGeom prst="bentConnector3">
            <a:avLst/>
          </a:prstGeom>
          <a:ln w="1778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868680" y="2212848"/>
            <a:ext cx="10451592" cy="512064"/>
          </a:xfrm>
          <a:prstGeom prst="rect">
            <a:avLst/>
          </a:prstGeom>
          <a:solidFill>
            <a:srgbClr val="234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212848"/>
            <a:ext cx="4028955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Helvetica Neue"/>
                <a:cs typeface="Helvetica Neue"/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8531" y="2212848"/>
            <a:ext cx="293699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Helvetica Neue"/>
                <a:cs typeface="Helvetica Neue"/>
              </a:rPr>
              <a:t>Who pays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8409" y="2212848"/>
            <a:ext cx="293699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Helvetica Neue"/>
                <a:cs typeface="Helvetica Neue"/>
              </a:rPr>
              <a:t>Reader access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724912"/>
            <a:ext cx="10451592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68680" y="3236976"/>
            <a:ext cx="10451592" cy="0"/>
          </a:xfrm>
          <a:prstGeom prst="bentConnector3">
            <a:avLst/>
          </a:prstGeom>
          <a:ln w="1270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96695" y="2724912"/>
            <a:ext cx="3992379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1">
                <a:solidFill>
                  <a:srgbClr val="1B1B1A"/>
                </a:solidFill>
                <a:latin typeface="Helvetica Neue"/>
                <a:cs typeface="Helvetica Neue"/>
              </a:rPr>
              <a:t>Closed or subscription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08531" y="2724912"/>
            <a:ext cx="290042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Reader's library pays; author usually free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8409" y="2724912"/>
            <a:ext cx="290042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Paywalled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236976"/>
            <a:ext cx="10451592" cy="512064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868680" y="3749039"/>
            <a:ext cx="10451592" cy="0"/>
          </a:xfrm>
          <a:prstGeom prst="bentConnector3">
            <a:avLst/>
          </a:prstGeom>
          <a:ln w="1270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96695" y="3236976"/>
            <a:ext cx="3992379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1">
                <a:solidFill>
                  <a:srgbClr val="1B1B1A"/>
                </a:solidFill>
                <a:latin typeface="Helvetica Neue"/>
                <a:cs typeface="Helvetica Neue"/>
              </a:rPr>
              <a:t>Gold OA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8531" y="3236976"/>
            <a:ext cx="290042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Author or funder often pays an APC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8409" y="3236976"/>
            <a:ext cx="290042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Free to all readers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3749039"/>
            <a:ext cx="10451592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68680" y="4261104"/>
            <a:ext cx="10451592" cy="0"/>
          </a:xfrm>
          <a:prstGeom prst="bentConnector3">
            <a:avLst/>
          </a:prstGeom>
          <a:ln w="1270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96695" y="3749039"/>
            <a:ext cx="3992379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1">
                <a:solidFill>
                  <a:srgbClr val="1B1B1A"/>
                </a:solidFill>
                <a:latin typeface="Helvetica Neue"/>
                <a:cs typeface="Helvetica Neue"/>
              </a:rPr>
              <a:t>Hybrid OA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8531" y="3749039"/>
            <a:ext cx="290042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Author may optionally pay an APC inside a subscription journal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8409" y="3749039"/>
            <a:ext cx="290042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That article free; rest paywalled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4261104"/>
            <a:ext cx="10451592" cy="512064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868680" y="4773168"/>
            <a:ext cx="10451592" cy="0"/>
          </a:xfrm>
          <a:prstGeom prst="bentConnector3">
            <a:avLst/>
          </a:prstGeom>
          <a:ln w="1270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96695" y="4261104"/>
            <a:ext cx="3992379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1">
                <a:solidFill>
                  <a:srgbClr val="1B1B1A"/>
                </a:solidFill>
                <a:latin typeface="Helvetica Neue"/>
                <a:cs typeface="Helvetica Neue"/>
              </a:rPr>
              <a:t>Green OA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08531" y="4261104"/>
            <a:ext cx="290042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No additional open-access fee; an allowed manuscript version is archived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8409" y="4261104"/>
            <a:ext cx="290042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Free copy in a repository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" y="4773168"/>
            <a:ext cx="10451592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868680" y="5285232"/>
            <a:ext cx="10451592" cy="0"/>
          </a:xfrm>
          <a:prstGeom prst="bentConnector3">
            <a:avLst/>
          </a:prstGeom>
          <a:ln w="1270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96695" y="4773168"/>
            <a:ext cx="3992379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1">
                <a:solidFill>
                  <a:srgbClr val="1B1B1A"/>
                </a:solidFill>
                <a:latin typeface="Helvetica Neue"/>
                <a:cs typeface="Helvetica Neue"/>
              </a:rPr>
              <a:t>Diamond OA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08531" y="4773168"/>
            <a:ext cx="290042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A university, society, government, library, or funder pays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8409" y="4773168"/>
            <a:ext cx="290042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Free to all readers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5486400"/>
            <a:ext cx="10451592" cy="804671"/>
          </a:xfrm>
          <a:prstGeom prst="rect">
            <a:avLst/>
          </a:prstGeom>
          <a:solidFill>
            <a:srgbClr val="EC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lnSpc>
                <a:spcPct val="116000"/>
              </a:lnSpc>
            </a:pPr>
            <a:r>
              <a:rPr sz="1400" b="1" spc="140">
                <a:solidFill>
                  <a:srgbClr val="23439B"/>
                </a:solidFill>
                <a:latin typeface="Helvetica Neue"/>
                <a:cs typeface="Helvetica Neue"/>
              </a:rPr>
              <a:t>DIAMOND OA   </a:t>
            </a:r>
            <a:r>
              <a:rPr sz="1600">
                <a:solidFill>
                  <a:srgbClr val="1B1B1A"/>
                </a:solidFill>
                <a:latin typeface="Helvetica Neue"/>
                <a:cs typeface="Helvetica Neue"/>
              </a:rPr>
              <a:t>Free for the author and reader, because an institution or funder covers the cost.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77824" y="5486400"/>
            <a:ext cx="0" cy="804671"/>
          </a:xfrm>
          <a:prstGeom prst="bentConnector3">
            <a:avLst/>
          </a:prstGeom>
          <a:ln w="50800">
            <a:solidFill>
              <a:srgbClr val="234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686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spc="160">
                <a:solidFill>
                  <a:srgbClr val="6E6A62"/>
                </a:solidFill>
                <a:latin typeface="Helvetica Neue"/>
                <a:cs typeface="Helvetica Neue"/>
              </a:rPr>
              <a:t>BTAJI CREW   /   PUBLISHING YOUR RESEARCH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6419088"/>
            <a:ext cx="13075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6E6A62"/>
                </a:solidFill>
                <a:latin typeface="Menlo"/>
                <a:cs typeface="Menlo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104515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spc="240">
                <a:solidFill>
                  <a:srgbClr val="23439B"/>
                </a:solidFill>
                <a:latin typeface="Helvetica Neue"/>
                <a:cs typeface="Helvetica Neue"/>
              </a:rPr>
              <a:t>ASK ABOUT THE MONEY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932688"/>
            <a:ext cx="1045159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400" b="1">
                <a:solidFill>
                  <a:srgbClr val="1B1B1A"/>
                </a:solidFill>
                <a:latin typeface="Georgia"/>
                <a:cs typeface="Georgia"/>
              </a:rPr>
              <a:t>Ask about the money before you submit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1783080"/>
            <a:ext cx="10451592" cy="0"/>
          </a:xfrm>
          <a:prstGeom prst="bentConnector3">
            <a:avLst/>
          </a:prstGeom>
          <a:ln w="1778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68680" y="2240280"/>
            <a:ext cx="6675120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8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800">
                <a:solidFill>
                  <a:srgbClr val="1B1B1A"/>
                </a:solidFill>
                <a:latin typeface="Helvetica Neue"/>
                <a:cs typeface="Helvetica Neue"/>
              </a:rPr>
              <a:t>Is submission free?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8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800">
                <a:solidFill>
                  <a:srgbClr val="1B1B1A"/>
                </a:solidFill>
                <a:latin typeface="Helvetica Neue"/>
                <a:cs typeface="Helvetica Neue"/>
              </a:rPr>
              <a:t>Is payment required only after acceptance?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8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800">
                <a:solidFill>
                  <a:srgbClr val="1B1B1A"/>
                </a:solidFill>
                <a:latin typeface="Helvetica Neue"/>
                <a:cs typeface="Helvetica Neue"/>
              </a:rPr>
              <a:t>Is the charge an APC, a registration fee, a page charge, or another charge?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8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800">
                <a:solidFill>
                  <a:srgbClr val="1B1B1A"/>
                </a:solidFill>
                <a:latin typeface="Helvetica Neue"/>
                <a:cs typeface="Helvetica Neue"/>
              </a:rPr>
              <a:t>Is a waiver or discount available?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8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800">
                <a:solidFill>
                  <a:srgbClr val="1B1B1A"/>
                </a:solidFill>
                <a:latin typeface="Helvetica Neue"/>
                <a:cs typeface="Helvetica Neue"/>
              </a:rPr>
              <a:t>For a conference, is travel separate from registration?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8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800">
                <a:solidFill>
                  <a:srgbClr val="1B1B1A"/>
                </a:solidFill>
                <a:latin typeface="Helvetica Neue"/>
                <a:cs typeface="Helvetica Neue"/>
              </a:rPr>
              <a:t>Is open access optional or compulsory here?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2286000"/>
            <a:ext cx="3502152" cy="3291840"/>
          </a:xfrm>
          <a:prstGeom prst="rect">
            <a:avLst/>
          </a:prstGeom>
          <a:solidFill>
            <a:srgbClr val="EC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/>
          <a:lstStyle/>
          <a:p>
            <a:pPr algn="ctr"/>
            <a:r>
              <a:rPr sz="1200" b="1" spc="160">
                <a:solidFill>
                  <a:srgbClr val="23439B"/>
                </a:solidFill>
                <a:latin typeface="Helvetica Neue"/>
                <a:cs typeface="Helvetica Neue"/>
              </a:rPr>
              <a:t>NOTE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700" i="1">
                <a:solidFill>
                  <a:srgbClr val="1B1B1A"/>
                </a:solidFill>
                <a:latin typeface="Georgia"/>
                <a:cs typeface="Georgia"/>
              </a:rPr>
              <a:t>All fees are approximate examples. Verify the current official page before you commit.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836408" y="2286000"/>
            <a:ext cx="0" cy="3291840"/>
          </a:xfrm>
          <a:prstGeom prst="bentConnector3">
            <a:avLst/>
          </a:prstGeom>
          <a:ln w="50800">
            <a:solidFill>
              <a:srgbClr val="234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686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spc="160">
                <a:solidFill>
                  <a:srgbClr val="6E6A62"/>
                </a:solidFill>
                <a:latin typeface="Helvetica Neue"/>
                <a:cs typeface="Helvetica Neue"/>
              </a:rPr>
              <a:t>BTAJI CREW   /   PUBLISHING YOUR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19088"/>
            <a:ext cx="13075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6E6A62"/>
                </a:solidFill>
                <a:latin typeface="Menlo"/>
                <a:cs typeface="Menlo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6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7373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spc="300">
                <a:solidFill>
                  <a:srgbClr val="CBCED6"/>
                </a:solidFill>
                <a:latin typeface="Helvetica Neue"/>
                <a:cs typeface="Helvetica Neue"/>
              </a:rP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03120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5000" b="1">
                <a:solidFill>
                  <a:srgbClr val="FFFFFF"/>
                </a:solidFill>
                <a:latin typeface="Georgia"/>
                <a:cs typeface="Georgia"/>
              </a:rPr>
              <a:t>Publishing in Pakistan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3977639"/>
            <a:ext cx="2743200" cy="0"/>
          </a:xfrm>
          <a:prstGeom prst="bentConnector3">
            <a:avLst/>
          </a:prstGeom>
          <a:ln w="304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68680" y="420624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i="1">
                <a:solidFill>
                  <a:srgbClr val="E7E6E1"/>
                </a:solidFill>
                <a:latin typeface="Georgia"/>
                <a:cs typeface="Georgia"/>
              </a:rPr>
              <a:t>The HEC system: W, X, 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585216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CBCED6"/>
                </a:solidFill>
                <a:latin typeface="Menlo"/>
                <a:cs typeface="Menlo"/>
              </a:rPr>
              <a:t>05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104515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spc="240">
                <a:solidFill>
                  <a:srgbClr val="23439B"/>
                </a:solidFill>
                <a:latin typeface="Helvetica Neue"/>
                <a:cs typeface="Helvetica Neue"/>
              </a:rPr>
              <a:t>PUBLISHING IN PAKISTAN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932688"/>
            <a:ext cx="1045159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200" b="1">
                <a:solidFill>
                  <a:srgbClr val="1B1B1A"/>
                </a:solidFill>
                <a:latin typeface="Georgia"/>
                <a:cs typeface="Georgia"/>
              </a:rPr>
              <a:t>HEC recognizes journals in three tiers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1783080"/>
            <a:ext cx="10451592" cy="0"/>
          </a:xfrm>
          <a:prstGeom prst="bentConnector3">
            <a:avLst/>
          </a:prstGeom>
          <a:ln w="1778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868680" y="2331720"/>
            <a:ext cx="10451592" cy="548640"/>
          </a:xfrm>
          <a:prstGeom prst="rect">
            <a:avLst/>
          </a:prstGeom>
          <a:solidFill>
            <a:srgbClr val="234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331720"/>
            <a:ext cx="582122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Helvetica Neue"/>
                <a:cs typeface="Helvetica Neue"/>
              </a:rPr>
              <a:t>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802" y="2331720"/>
            <a:ext cx="426460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Helvetica Neue"/>
                <a:cs typeface="Helvetica Neue"/>
              </a:rPr>
              <a:t>What it means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880360"/>
            <a:ext cx="1045159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68680" y="3447288"/>
            <a:ext cx="10451592" cy="0"/>
          </a:xfrm>
          <a:prstGeom prst="bentConnector3">
            <a:avLst/>
          </a:prstGeom>
          <a:ln w="1270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96695" y="2880360"/>
            <a:ext cx="578465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1">
                <a:solidFill>
                  <a:srgbClr val="1B1B1A"/>
                </a:solidFill>
                <a:latin typeface="Helvetica Neue"/>
                <a:cs typeface="Helvetica Neue"/>
              </a:rPr>
              <a:t>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0802" y="2880360"/>
            <a:ext cx="422802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Top tier, strongest recognized journals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447288"/>
            <a:ext cx="10451592" cy="566928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868680" y="4014215"/>
            <a:ext cx="10451592" cy="0"/>
          </a:xfrm>
          <a:prstGeom prst="bentConnector3">
            <a:avLst/>
          </a:prstGeom>
          <a:ln w="1270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96695" y="3447288"/>
            <a:ext cx="578465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1">
                <a:solidFill>
                  <a:srgbClr val="1B1B1A"/>
                </a:solidFill>
                <a:latin typeface="Helvetica Neue"/>
                <a:cs typeface="Helvetica Neue"/>
              </a:rPr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0802" y="3447288"/>
            <a:ext cx="422802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Solid recognized, a clear step below 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4014215"/>
            <a:ext cx="1045159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68680" y="4581144"/>
            <a:ext cx="10451592" cy="0"/>
          </a:xfrm>
          <a:prstGeom prst="bentConnector3">
            <a:avLst/>
          </a:prstGeom>
          <a:ln w="1270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96695" y="4014215"/>
            <a:ext cx="578465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1">
                <a:solidFill>
                  <a:srgbClr val="1B1B1A"/>
                </a:solidFill>
                <a:latin typeface="Helvetica Neue"/>
                <a:cs typeface="Helvetica Neue"/>
              </a:rPr>
              <a:t>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0802" y="4014215"/>
            <a:ext cx="422802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Entry level, still a real recognized publication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4782312"/>
            <a:ext cx="10451592" cy="1234440"/>
          </a:xfrm>
          <a:prstGeom prst="rect">
            <a:avLst/>
          </a:prstGeom>
          <a:solidFill>
            <a:srgbClr val="EC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lnSpc>
                <a:spcPct val="116000"/>
              </a:lnSpc>
            </a:pPr>
            <a:r>
              <a:rPr sz="1400" b="1" spc="140">
                <a:solidFill>
                  <a:srgbClr val="23439B"/>
                </a:solidFill>
                <a:latin typeface="Helvetica Neue"/>
                <a:cs typeface="Helvetica Neue"/>
              </a:rPr>
              <a:t>REMEMBER   </a:t>
            </a:r>
            <a:r>
              <a:rPr sz="1600">
                <a:solidFill>
                  <a:srgbClr val="1B1B1A"/>
                </a:solidFill>
                <a:latin typeface="Helvetica Neue"/>
                <a:cs typeface="Helvetica Neue"/>
              </a:rPr>
              <a:t>HJRS shows the journal's current category. Your required category depends on current HEC policy and your university's rules.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7824" y="4782312"/>
            <a:ext cx="0" cy="1234440"/>
          </a:xfrm>
          <a:prstGeom prst="bentConnector3">
            <a:avLst/>
          </a:prstGeom>
          <a:ln w="50800">
            <a:solidFill>
              <a:srgbClr val="234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86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spc="160">
                <a:solidFill>
                  <a:srgbClr val="6E6A62"/>
                </a:solidFill>
                <a:latin typeface="Helvetica Neue"/>
                <a:cs typeface="Helvetica Neue"/>
              </a:rPr>
              <a:t>BTAJI CREW   /   PUBLISHING YOUR RESEARCH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19088"/>
            <a:ext cx="13075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6E6A62"/>
                </a:solidFill>
                <a:latin typeface="Menlo"/>
                <a:cs typeface="Menlo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104515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spc="240">
                <a:solidFill>
                  <a:srgbClr val="23439B"/>
                </a:solidFill>
                <a:latin typeface="Helvetica Neue"/>
                <a:cs typeface="Helvetica Neue"/>
              </a:rPr>
              <a:t>ASK BEFORE YOU SUBMIT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932688"/>
            <a:ext cx="1045159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400" b="1">
                <a:solidFill>
                  <a:srgbClr val="1B1B1A"/>
                </a:solidFill>
                <a:latin typeface="Georgia"/>
                <a:cs typeface="Georgia"/>
              </a:rPr>
              <a:t>HEC checklist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1783080"/>
            <a:ext cx="10451592" cy="0"/>
          </a:xfrm>
          <a:prstGeom prst="bentConnector3">
            <a:avLst/>
          </a:prstGeom>
          <a:ln w="1778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68680" y="2240280"/>
            <a:ext cx="10451592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6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600">
                <a:solidFill>
                  <a:srgbClr val="1B1B1A"/>
                </a:solidFill>
                <a:latin typeface="Helvetica Neue"/>
                <a:cs typeface="Helvetica Neue"/>
              </a:rPr>
              <a:t>What must this paper count for?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6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600">
                <a:solidFill>
                  <a:srgbClr val="1B1B1A"/>
                </a:solidFill>
                <a:latin typeface="Helvetica Neue"/>
                <a:cs typeface="Helvetica Neue"/>
              </a:rPr>
              <a:t>What does my university currently require?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6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600">
                <a:solidFill>
                  <a:srgbClr val="1B1B1A"/>
                </a:solidFill>
                <a:latin typeface="Helvetica Neue"/>
                <a:cs typeface="Helvetica Neue"/>
              </a:rPr>
              <a:t>What does the current HEC policy say?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6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600">
                <a:solidFill>
                  <a:srgbClr val="1B1B1A"/>
                </a:solidFill>
                <a:latin typeface="Helvetica Neue"/>
                <a:cs typeface="Helvetica Neue"/>
              </a:rPr>
              <a:t>Is the exact journal and ISSN present in HJRS?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6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600">
                <a:solidFill>
                  <a:srgbClr val="1B1B1A"/>
                </a:solidFill>
                <a:latin typeface="Helvetica Neue"/>
                <a:cs typeface="Helvetica Neue"/>
              </a:rPr>
              <a:t>What is its current category?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6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600">
                <a:solidFill>
                  <a:srgbClr val="1B1B1A"/>
                </a:solidFill>
                <a:latin typeface="Helvetica Neue"/>
                <a:cs typeface="Helvetica Neue"/>
              </a:rPr>
              <a:t>Have I re-checked its status near acceptance or publication?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6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600">
                <a:solidFill>
                  <a:srgbClr val="1B1B1A"/>
                </a:solidFill>
                <a:latin typeface="Helvetica Neue"/>
                <a:cs typeface="Helvetica Neue"/>
              </a:rPr>
              <a:t>Have I saved dated evidence of the journal's status?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spc="160">
                <a:solidFill>
                  <a:srgbClr val="6E6A62"/>
                </a:solidFill>
                <a:latin typeface="Helvetica Neue"/>
                <a:cs typeface="Helvetica Neue"/>
              </a:rPr>
              <a:t>BTAJI CREW   /   PUBLISHING YOUR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6E6A62"/>
                </a:solidFill>
                <a:latin typeface="Menlo"/>
                <a:cs typeface="Menlo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4A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7373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spc="300">
                <a:solidFill>
                  <a:srgbClr val="CBCED6"/>
                </a:solidFill>
                <a:latin typeface="Helvetica Neue"/>
                <a:cs typeface="Helvetica Neue"/>
              </a:rPr>
              <a:t>PART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03120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5000" b="1">
                <a:solidFill>
                  <a:srgbClr val="FFFFFF"/>
                </a:solidFill>
                <a:latin typeface="Georgia"/>
                <a:cs typeface="Georgia"/>
              </a:rPr>
              <a:t>Choosing your route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3977639"/>
            <a:ext cx="2743200" cy="0"/>
          </a:xfrm>
          <a:prstGeom prst="bentConnector3">
            <a:avLst/>
          </a:prstGeom>
          <a:ln w="304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68680" y="420624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i="1">
                <a:solidFill>
                  <a:srgbClr val="E7E6E1"/>
                </a:solidFill>
                <a:latin typeface="Georgia"/>
                <a:cs typeface="Georgia"/>
              </a:rPr>
              <a:t>There is no single compulsory ladder.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585216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CBCED6"/>
                </a:solidFill>
                <a:latin typeface="Menlo"/>
                <a:cs typeface="Menlo"/>
              </a:rPr>
              <a:t>06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104515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spc="240">
                <a:solidFill>
                  <a:srgbClr val="23439B"/>
                </a:solidFill>
                <a:latin typeface="Helvetica Neue"/>
                <a:cs typeface="Helvetica Neue"/>
              </a:rPr>
              <a:t>CHOOSE YOUR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932688"/>
            <a:ext cx="1045159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200" b="1">
                <a:solidFill>
                  <a:srgbClr val="1B1B1A"/>
                </a:solidFill>
                <a:latin typeface="Georgia"/>
                <a:cs typeface="Georgia"/>
              </a:rPr>
              <a:t>There is no single ladder. Pick the route that fits your goal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1783080"/>
            <a:ext cx="10451592" cy="0"/>
          </a:xfrm>
          <a:prstGeom prst="bentConnector3">
            <a:avLst/>
          </a:prstGeom>
          <a:ln w="1778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868680" y="2331720"/>
            <a:ext cx="10451592" cy="548640"/>
          </a:xfrm>
          <a:prstGeom prst="rect">
            <a:avLst/>
          </a:prstGeom>
          <a:solidFill>
            <a:srgbClr val="234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331720"/>
            <a:ext cx="582122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Helvetica Neue"/>
                <a:cs typeface="Helvetica Neue"/>
              </a:rPr>
              <a:t>Your 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802" y="2331720"/>
            <a:ext cx="426460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Helvetica Neue"/>
                <a:cs typeface="Helvetica Neue"/>
              </a:rPr>
              <a:t>A sensible route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880360"/>
            <a:ext cx="1045159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68680" y="3447288"/>
            <a:ext cx="10451592" cy="0"/>
          </a:xfrm>
          <a:prstGeom prst="bentConnector3">
            <a:avLst/>
          </a:prstGeom>
          <a:ln w="1270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96695" y="2880360"/>
            <a:ext cx="578465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1">
                <a:solidFill>
                  <a:srgbClr val="1B1B1A"/>
                </a:solidFill>
                <a:latin typeface="Helvetica Neue"/>
                <a:cs typeface="Helvetica Neue"/>
              </a:rPr>
              <a:t>Visibility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0802" y="2880360"/>
            <a:ext cx="422802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Preprint, then share code and data, then a conference or journal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447288"/>
            <a:ext cx="10451592" cy="566928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868680" y="4014215"/>
            <a:ext cx="10451592" cy="0"/>
          </a:xfrm>
          <a:prstGeom prst="bentConnector3">
            <a:avLst/>
          </a:prstGeom>
          <a:ln w="1270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96695" y="3447288"/>
            <a:ext cx="578465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1">
                <a:solidFill>
                  <a:srgbClr val="1B1B1A"/>
                </a:solidFill>
                <a:latin typeface="Helvetica Neue"/>
                <a:cs typeface="Helvetica Neue"/>
              </a:rPr>
              <a:t>First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0802" y="3447288"/>
            <a:ext cx="422802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A workshop or good local conference, then a stronger venue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4014215"/>
            <a:ext cx="1045159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68680" y="4581144"/>
            <a:ext cx="10451592" cy="0"/>
          </a:xfrm>
          <a:prstGeom prst="bentConnector3">
            <a:avLst/>
          </a:prstGeom>
          <a:ln w="1270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96695" y="4014215"/>
            <a:ext cx="578465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1">
                <a:solidFill>
                  <a:srgbClr val="1B1B1A"/>
                </a:solidFill>
                <a:latin typeface="Helvetica Neue"/>
                <a:cs typeface="Helvetica Neue"/>
              </a:rPr>
              <a:t>Degree credit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0802" y="4014215"/>
            <a:ext cx="422802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Check the programme rule, then a legitimate recognised journal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4581144"/>
            <a:ext cx="10451592" cy="566928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868680" y="5148072"/>
            <a:ext cx="10451592" cy="0"/>
          </a:xfrm>
          <a:prstGeom prst="bentConnector3">
            <a:avLst/>
          </a:prstGeom>
          <a:ln w="1270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96695" y="4581144"/>
            <a:ext cx="578465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1">
                <a:solidFill>
                  <a:srgbClr val="1B1B1A"/>
                </a:solidFill>
                <a:latin typeface="Helvetica Neue"/>
                <a:cs typeface="Helvetica Neue"/>
              </a:rPr>
              <a:t>International career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0802" y="4581144"/>
            <a:ext cx="422802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The strongest indexed venue that realistically fits the work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5349240"/>
            <a:ext cx="10451592" cy="941832"/>
          </a:xfrm>
          <a:prstGeom prst="rect">
            <a:avLst/>
          </a:prstGeom>
          <a:solidFill>
            <a:srgbClr val="EC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lnSpc>
                <a:spcPct val="116000"/>
              </a:lnSpc>
            </a:pPr>
            <a:r>
              <a:rPr sz="1400" b="1" spc="140">
                <a:solidFill>
                  <a:srgbClr val="23439B"/>
                </a:solidFill>
                <a:latin typeface="Helvetica Neue"/>
                <a:cs typeface="Helvetica Neue"/>
              </a:rPr>
              <a:t>REMEMBER   </a:t>
            </a:r>
            <a:r>
              <a:rPr sz="1600">
                <a:solidFill>
                  <a:srgbClr val="1B1B1A"/>
                </a:solidFill>
                <a:latin typeface="Helvetica Neue"/>
                <a:cs typeface="Helvetica Neue"/>
              </a:rPr>
              <a:t>You can mix routes. One project can be a preprint and a conference paper and a journal article.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7824" y="5349240"/>
            <a:ext cx="0" cy="941832"/>
          </a:xfrm>
          <a:prstGeom prst="bentConnector3">
            <a:avLst/>
          </a:prstGeom>
          <a:ln w="50800">
            <a:solidFill>
              <a:srgbClr val="234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686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spc="160">
                <a:solidFill>
                  <a:srgbClr val="6E6A62"/>
                </a:solidFill>
                <a:latin typeface="Helvetica Neue"/>
                <a:cs typeface="Helvetica Neue"/>
              </a:rPr>
              <a:t>BTAJI CREW   /   PUBLISHING YOUR RESEARCH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419088"/>
            <a:ext cx="13075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6E6A62"/>
                </a:solidFill>
                <a:latin typeface="Menlo"/>
                <a:cs typeface="Menlo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104515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spc="240">
                <a:solidFill>
                  <a:srgbClr val="23439B"/>
                </a:solidFill>
                <a:latin typeface="Helvetica Neue"/>
                <a:cs typeface="Helvetica Neue"/>
              </a:rPr>
              <a:t>JUDGE THE VENUE, NOT THE LABEL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932688"/>
            <a:ext cx="1045159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400" b="1">
                <a:solidFill>
                  <a:srgbClr val="1B1B1A"/>
                </a:solidFill>
                <a:latin typeface="Georgia"/>
                <a:cs typeface="Georgia"/>
              </a:rPr>
              <a:t>"International" is not automatically good, "national" is not automatically weak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1783080"/>
            <a:ext cx="10451592" cy="0"/>
          </a:xfrm>
          <a:prstGeom prst="bentConnector3">
            <a:avLst/>
          </a:prstGeom>
          <a:ln w="1778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68680" y="2240280"/>
            <a:ext cx="10451592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9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900">
                <a:solidFill>
                  <a:srgbClr val="1B1B1A"/>
                </a:solidFill>
                <a:latin typeface="Helvetica Neue"/>
                <a:cs typeface="Helvetica Neue"/>
              </a:rPr>
              <a:t>A strong HEC X journal beats a fake international journal that spams you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9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900">
                <a:solidFill>
                  <a:srgbClr val="1B1B1A"/>
                </a:solidFill>
                <a:latin typeface="Helvetica Neue"/>
                <a:cs typeface="Helvetica Neue"/>
              </a:rPr>
              <a:t>Judge by real peer review, indexing, and reputation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9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900">
                <a:solidFill>
                  <a:srgbClr val="1B1B1A"/>
                </a:solidFill>
                <a:latin typeface="Helvetica Neue"/>
                <a:cs typeface="Helvetica Neue"/>
              </a:rPr>
              <a:t>The word "international" on its own proves nothing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9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900">
                <a:solidFill>
                  <a:srgbClr val="1B1B1A"/>
                </a:solidFill>
                <a:latin typeface="Helvetica Neue"/>
                <a:cs typeface="Helvetica Neue"/>
              </a:rPr>
              <a:t>A Pakistani conference is a realistic, affordable first 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spc="160">
                <a:solidFill>
                  <a:srgbClr val="6E6A62"/>
                </a:solidFill>
                <a:latin typeface="Helvetica Neue"/>
                <a:cs typeface="Helvetica Neue"/>
              </a:rPr>
              <a:t>BTAJI CREW   /   PUBLISHING YOUR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6E6A62"/>
                </a:solidFill>
                <a:latin typeface="Menlo"/>
                <a:cs typeface="Menlo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E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7373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spc="300">
                <a:solidFill>
                  <a:srgbClr val="CBCED6"/>
                </a:solidFill>
                <a:latin typeface="Helvetica Neue"/>
                <a:cs typeface="Helvetica Neue"/>
              </a:rPr>
              <a:t>PART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03120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5000" b="1">
                <a:solidFill>
                  <a:srgbClr val="FFFFFF"/>
                </a:solidFill>
                <a:latin typeface="Georgia"/>
                <a:cs typeface="Georgia"/>
              </a:rPr>
              <a:t>Staying safe, doing it right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3977639"/>
            <a:ext cx="2743200" cy="0"/>
          </a:xfrm>
          <a:prstGeom prst="bentConnector3">
            <a:avLst/>
          </a:prstGeom>
          <a:ln w="304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68680" y="420624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i="1">
                <a:solidFill>
                  <a:srgbClr val="E7E6E1"/>
                </a:solidFill>
                <a:latin typeface="Georgia"/>
                <a:cs typeface="Georgia"/>
              </a:rPr>
              <a:t>Predatory venues, authorship, and the toolkit.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585216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CBCED6"/>
                </a:solidFill>
                <a:latin typeface="Menlo"/>
                <a:cs typeface="Menlo"/>
              </a:rPr>
              <a:t>07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104515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spc="240">
                <a:solidFill>
                  <a:srgbClr val="23439B"/>
                </a:solidFill>
                <a:latin typeface="Helvetica Neue"/>
                <a:cs typeface="Helvetica Neue"/>
              </a:rPr>
              <a:t>SPOT A PREDATORY 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932688"/>
            <a:ext cx="1045159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400" b="1">
                <a:solidFill>
                  <a:srgbClr val="1B1B1A"/>
                </a:solidFill>
                <a:latin typeface="Georgia"/>
                <a:cs typeface="Georgia"/>
              </a:rPr>
              <a:t>Is this venue predatory?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1783080"/>
            <a:ext cx="10451592" cy="0"/>
          </a:xfrm>
          <a:prstGeom prst="bentConnector3">
            <a:avLst/>
          </a:prstGeom>
          <a:ln w="1778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68680" y="2240280"/>
            <a:ext cx="10451592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5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500">
                <a:solidFill>
                  <a:srgbClr val="1B1B1A"/>
                </a:solidFill>
                <a:latin typeface="Helvetica Neue"/>
                <a:cs typeface="Helvetica Neue"/>
              </a:rPr>
              <a:t>Did it send an unsolicited flattering email?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5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500">
                <a:solidFill>
                  <a:srgbClr val="1B1B1A"/>
                </a:solidFill>
                <a:latin typeface="Helvetica Neue"/>
                <a:cs typeface="Helvetica Neue"/>
              </a:rPr>
              <a:t>Does it guarantee acceptance?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5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500">
                <a:solidFill>
                  <a:srgbClr val="1B1B1A"/>
                </a:solidFill>
                <a:latin typeface="Helvetica Neue"/>
                <a:cs typeface="Helvetica Neue"/>
              </a:rPr>
              <a:t>Is the review time unrealistically short?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5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500">
                <a:solidFill>
                  <a:srgbClr val="1B1B1A"/>
                </a:solidFill>
                <a:latin typeface="Helvetica Neue"/>
                <a:cs typeface="Helvetica Neue"/>
              </a:rPr>
              <a:t>Are the fees hidden?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5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500">
                <a:solidFill>
                  <a:srgbClr val="1B1B1A"/>
                </a:solidFill>
                <a:latin typeface="Helvetica Neue"/>
                <a:cs typeface="Helvetica Neue"/>
              </a:rPr>
              <a:t>Can you verify its indexing directly, not just its own claim?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5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500">
                <a:solidFill>
                  <a:srgbClr val="1B1B1A"/>
                </a:solidFill>
                <a:latin typeface="Helvetica Neue"/>
                <a:cs typeface="Helvetica Neue"/>
              </a:rPr>
              <a:t>Is the editorial board real?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5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500">
                <a:solidFill>
                  <a:srgbClr val="1B1B1A"/>
                </a:solidFill>
                <a:latin typeface="Helvetica Neue"/>
                <a:cs typeface="Helvetica Neue"/>
              </a:rPr>
              <a:t>Is the scope suspiciously broad?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5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500">
                <a:solidFill>
                  <a:srgbClr val="1B1B1A"/>
                </a:solidFill>
                <a:latin typeface="Helvetica Neue"/>
                <a:cs typeface="Helvetica Neue"/>
              </a:rPr>
              <a:t>Does its name imitate a famous conference?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5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500">
                <a:solidFill>
                  <a:srgbClr val="1B1B1A"/>
                </a:solidFill>
                <a:latin typeface="Helvetica Neue"/>
                <a:cs typeface="Helvetica Neue"/>
              </a:rPr>
              <a:t>Have I checked it using the Think. Check. Submit. checklist?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spc="160">
                <a:solidFill>
                  <a:srgbClr val="6E6A62"/>
                </a:solidFill>
                <a:latin typeface="Helvetica Neue"/>
                <a:cs typeface="Helvetica Neue"/>
              </a:rPr>
              <a:t>BTAJI CREW   /   PUBLISHING YOUR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6E6A62"/>
                </a:solidFill>
                <a:latin typeface="Menlo"/>
                <a:cs typeface="Menlo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104515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spc="240">
                <a:solidFill>
                  <a:srgbClr val="23439B"/>
                </a:solidFill>
                <a:latin typeface="Helvetica Neue"/>
                <a:cs typeface="Helvetica Neue"/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932688"/>
            <a:ext cx="1045159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400" b="1">
                <a:solidFill>
                  <a:srgbClr val="1B1B1A"/>
                </a:solidFill>
                <a:latin typeface="Georgia"/>
                <a:cs typeface="Georgia"/>
              </a:rPr>
              <a:t>Why predatory venues hurt you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1783080"/>
            <a:ext cx="10451592" cy="0"/>
          </a:xfrm>
          <a:prstGeom prst="bentConnector3">
            <a:avLst/>
          </a:prstGeom>
          <a:ln w="1778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68680" y="2240280"/>
            <a:ext cx="10451592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9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900">
                <a:solidFill>
                  <a:srgbClr val="1B1B1A"/>
                </a:solidFill>
                <a:latin typeface="Helvetica Neue"/>
                <a:cs typeface="Helvetica Neue"/>
              </a:rPr>
              <a:t>No real peer review, so your work is never vetted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9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900">
                <a:solidFill>
                  <a:srgbClr val="1B1B1A"/>
                </a:solidFill>
                <a:latin typeface="Helvetica Neue"/>
                <a:cs typeface="Helvetica Neue"/>
              </a:rPr>
              <a:t>It may not count for a degree or a job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9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900">
                <a:solidFill>
                  <a:srgbClr val="1B1B1A"/>
                </a:solidFill>
                <a:latin typeface="Helvetica Neue"/>
                <a:cs typeface="Helvetica Neue"/>
              </a:rPr>
              <a:t>It can damage your standing with future reviewers and committees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9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900">
                <a:solidFill>
                  <a:srgbClr val="1B1B1A"/>
                </a:solidFill>
                <a:latin typeface="Helvetica Neue"/>
                <a:cs typeface="Helvetica Neue"/>
              </a:rPr>
              <a:t>Save dated evidence of the venue and your submission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9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900">
                <a:solidFill>
                  <a:srgbClr val="1B1B1A"/>
                </a:solidFill>
                <a:latin typeface="Helvetica Neue"/>
                <a:cs typeface="Helvetica Neue"/>
              </a:rPr>
              <a:t>Confirm the applicable rule with your own institution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spc="160">
                <a:solidFill>
                  <a:srgbClr val="6E6A62"/>
                </a:solidFill>
                <a:latin typeface="Helvetica Neue"/>
                <a:cs typeface="Helvetica Neue"/>
              </a:rPr>
              <a:t>BTAJI CREW   /   PUBLISHING YOUR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6E6A62"/>
                </a:solidFill>
                <a:latin typeface="Menlo"/>
                <a:cs typeface="Menlo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104515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spc="240">
                <a:solidFill>
                  <a:srgbClr val="23439B"/>
                </a:solidFill>
                <a:latin typeface="Helvetica Neue"/>
                <a:cs typeface="Helvetica Neue"/>
              </a:rPr>
              <a:t>AUTHORSHIP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932688"/>
            <a:ext cx="1045159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400" b="1">
                <a:solidFill>
                  <a:srgbClr val="1B1B1A"/>
                </a:solidFill>
                <a:latin typeface="Georgia"/>
                <a:cs typeface="Georgia"/>
              </a:rPr>
              <a:t>Who goes on the paper, and in what order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1783080"/>
            <a:ext cx="10451592" cy="0"/>
          </a:xfrm>
          <a:prstGeom prst="bentConnector3">
            <a:avLst/>
          </a:prstGeom>
          <a:ln w="1778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68680" y="2240280"/>
            <a:ext cx="10451592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6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600">
                <a:solidFill>
                  <a:srgbClr val="1B1B1A"/>
                </a:solidFill>
                <a:latin typeface="Helvetica Neue"/>
                <a:cs typeface="Helvetica Neue"/>
              </a:rPr>
              <a:t>First author: did the most work, usually wrote it; the key spot for a student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6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600">
                <a:solidFill>
                  <a:srgbClr val="1B1B1A"/>
                </a:solidFill>
                <a:latin typeface="Helvetica Neue"/>
                <a:cs typeface="Helvetica Neue"/>
              </a:rPr>
              <a:t>Corresponding author: submits and handles reviewers; a duty, not a rank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6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600">
                <a:solidFill>
                  <a:srgbClr val="1B1B1A"/>
                </a:solidFill>
                <a:latin typeface="Helvetica Neue"/>
                <a:cs typeface="Helvetica Neue"/>
              </a:rPr>
              <a:t>Last author: often the senior supervisor who guided the project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6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600">
                <a:solidFill>
                  <a:srgbClr val="1B1B1A"/>
                </a:solidFill>
                <a:latin typeface="Helvetica Neue"/>
                <a:cs typeface="Helvetica Neue"/>
              </a:rPr>
              <a:t>Gift authorship: adding a name that did not contribute (wrong)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6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600">
                <a:solidFill>
                  <a:srgbClr val="1B1B1A"/>
                </a:solidFill>
                <a:latin typeface="Helvetica Neue"/>
                <a:cs typeface="Helvetica Neue"/>
              </a:rPr>
              <a:t>Ghost authorship: leaving out someone who did the work (wrong)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6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600">
                <a:solidFill>
                  <a:srgbClr val="1B1B1A"/>
                </a:solidFill>
                <a:latin typeface="Helvetica Neue"/>
                <a:cs typeface="Helvetica Neue"/>
              </a:rPr>
              <a:t>Order traditions differ by field; some use alphabetical order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6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600">
                <a:solidFill>
                  <a:srgbClr val="1B1B1A"/>
                </a:solidFill>
                <a:latin typeface="Helvetica Neue"/>
                <a:cs typeface="Helvetica Neue"/>
              </a:rPr>
              <a:t>Agree the author list and order in writing, before you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spc="160">
                <a:solidFill>
                  <a:srgbClr val="6E6A62"/>
                </a:solidFill>
                <a:latin typeface="Helvetica Neue"/>
                <a:cs typeface="Helvetica Neue"/>
              </a:rPr>
              <a:t>BTAJI CREW   /   PUBLISHING YOUR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6E6A62"/>
                </a:solidFill>
                <a:latin typeface="Menlo"/>
                <a:cs typeface="Menlo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104515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spc="240">
                <a:solidFill>
                  <a:srgbClr val="23439B"/>
                </a:solidFill>
                <a:latin typeface="Helvetica Neue"/>
                <a:cs typeface="Helvetica Neue"/>
              </a:rPr>
              <a:t>INTEGRITY: DO NOT CROSS THESE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932688"/>
            <a:ext cx="1045159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400" b="1">
                <a:solidFill>
                  <a:srgbClr val="1B1B1A"/>
                </a:solidFill>
                <a:latin typeface="Georgia"/>
                <a:cs typeface="Georgia"/>
              </a:rPr>
              <a:t>Honesty is the other half of the paper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1783080"/>
            <a:ext cx="10451592" cy="0"/>
          </a:xfrm>
          <a:prstGeom prst="bentConnector3">
            <a:avLst/>
          </a:prstGeom>
          <a:ln w="1778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68680" y="2240280"/>
            <a:ext cx="10451592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6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600">
                <a:solidFill>
                  <a:srgbClr val="1B1B1A"/>
                </a:solidFill>
                <a:latin typeface="Helvetica Neue"/>
                <a:cs typeface="Helvetica Neue"/>
              </a:rPr>
              <a:t>Plagiarism: passing off others' words, ideas, figures, or code as your own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6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600">
                <a:solidFill>
                  <a:srgbClr val="1B1B1A"/>
                </a:solidFill>
                <a:latin typeface="Helvetica Neue"/>
                <a:cs typeface="Helvetica Neue"/>
              </a:rPr>
              <a:t>Self-plagiarism: reusing your own past text or results without citing it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6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600">
                <a:solidFill>
                  <a:srgbClr val="1B1B1A"/>
                </a:solidFill>
                <a:latin typeface="Helvetica Neue"/>
                <a:cs typeface="Helvetica Neue"/>
              </a:rPr>
              <a:t>Salami slicing: splitting one study into several thin papers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6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600">
                <a:solidFill>
                  <a:srgbClr val="1B1B1A"/>
                </a:solidFill>
                <a:latin typeface="Helvetica Neue"/>
                <a:cs typeface="Helvetica Neue"/>
              </a:rPr>
              <a:t>Duplicate submission: sending one paper to two venues at once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6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600">
                <a:solidFill>
                  <a:srgbClr val="1B1B1A"/>
                </a:solidFill>
                <a:latin typeface="Helvetica Neue"/>
                <a:cs typeface="Helvetica Neue"/>
              </a:rPr>
              <a:t>AI use: follow the venue's policy and disclose assistance when required; AI cannot be an author.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6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600">
                <a:solidFill>
                  <a:srgbClr val="1B1B1A"/>
                </a:solidFill>
                <a:latin typeface="Helvetica Neue"/>
                <a:cs typeface="Helvetica Neue"/>
              </a:rPr>
              <a:t>Human-data ethics: follow ethics approval, consent, privacy, and dataset-use requirements where applicable.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6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600">
                <a:solidFill>
                  <a:srgbClr val="1B1B1A"/>
                </a:solidFill>
                <a:latin typeface="Helvetica Neue"/>
                <a:cs typeface="Helvetica Neue"/>
              </a:rPr>
              <a:t>A similarity score is not automatically plagiarism; thresholds vary by institution and document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spc="160">
                <a:solidFill>
                  <a:srgbClr val="6E6A62"/>
                </a:solidFill>
                <a:latin typeface="Helvetica Neue"/>
                <a:cs typeface="Helvetica Neue"/>
              </a:rPr>
              <a:t>BTAJI CREW   /   PUBLISHING YOUR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6E6A62"/>
                </a:solidFill>
                <a:latin typeface="Menlo"/>
                <a:cs typeface="Menlo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104515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spc="240">
                <a:solidFill>
                  <a:srgbClr val="23439B"/>
                </a:solidFill>
                <a:latin typeface="Helvetica Neue"/>
                <a:cs typeface="Helvetica Neue"/>
              </a:rPr>
              <a:t>WHAT THE PORTAL ASKS FOR BESIDES THE PDF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932688"/>
            <a:ext cx="1045159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400" b="1">
                <a:solidFill>
                  <a:srgbClr val="1B1B1A"/>
                </a:solidFill>
                <a:latin typeface="Georgia"/>
                <a:cs typeface="Georgia"/>
              </a:rPr>
              <a:t>Four pieces beginners forget to prepare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1783080"/>
            <a:ext cx="10451592" cy="0"/>
          </a:xfrm>
          <a:prstGeom prst="bentConnector3">
            <a:avLst/>
          </a:prstGeom>
          <a:ln w="1778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68680" y="2240280"/>
            <a:ext cx="10451592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9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900">
                <a:solidFill>
                  <a:srgbClr val="1B1B1A"/>
                </a:solidFill>
                <a:latin typeface="Helvetica Neue"/>
                <a:cs typeface="Helvetica Neue"/>
              </a:rPr>
              <a:t>Cover letter: a short note to the editor on why this journal and what is new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9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900">
                <a:solidFill>
                  <a:srgbClr val="1B1B1A"/>
                </a:solidFill>
                <a:latin typeface="Helvetica Neue"/>
                <a:cs typeface="Helvetica Neue"/>
              </a:rPr>
              <a:t>Point-by-point response: quote each reviewer comment, answer right under it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9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900">
                <a:solidFill>
                  <a:srgbClr val="1B1B1A"/>
                </a:solidFill>
                <a:latin typeface="Helvetica Neue"/>
                <a:cs typeface="Helvetica Neue"/>
              </a:rPr>
              <a:t>Reference manager (Zotero, Mendeley): stores sources, reformats citations in one click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9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900">
                <a:solidFill>
                  <a:srgbClr val="1B1B1A"/>
                </a:solidFill>
                <a:latin typeface="Helvetica Neue"/>
                <a:cs typeface="Helvetica Neue"/>
              </a:rPr>
              <a:t>Suggested reviewers: name real experts, never fake emails or close contacts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spc="160">
                <a:solidFill>
                  <a:srgbClr val="6E6A62"/>
                </a:solidFill>
                <a:latin typeface="Helvetica Neue"/>
                <a:cs typeface="Helvetica Neue"/>
              </a:rPr>
              <a:t>BTAJI CREW   /   PUBLISHING YOUR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6E6A62"/>
                </a:solidFill>
                <a:latin typeface="Menlo"/>
                <a:cs typeface="Menlo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104515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spc="240">
                <a:solidFill>
                  <a:srgbClr val="23439B"/>
                </a:solidFill>
                <a:latin typeface="Helvetica Neue"/>
                <a:cs typeface="Helvetica Neue"/>
              </a:rPr>
              <a:t>KNOW WHICH VERSION YOU CAN SHARE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932688"/>
            <a:ext cx="1045159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200" b="1">
                <a:solidFill>
                  <a:srgbClr val="1B1B1A"/>
                </a:solidFill>
                <a:latin typeface="Georgia"/>
                <a:cs typeface="Georgia"/>
              </a:rPr>
              <a:t>The three manuscript versions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1783080"/>
            <a:ext cx="10451592" cy="0"/>
          </a:xfrm>
          <a:prstGeom prst="bentConnector3">
            <a:avLst/>
          </a:prstGeom>
          <a:ln w="1778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868680" y="2331720"/>
            <a:ext cx="10451592" cy="548640"/>
          </a:xfrm>
          <a:prstGeom prst="rect">
            <a:avLst/>
          </a:prstGeom>
          <a:solidFill>
            <a:srgbClr val="234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331720"/>
            <a:ext cx="402895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Helvetica Neue"/>
                <a:cs typeface="Helvetica Neue"/>
              </a:rPr>
              <a:t>Version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8531" y="2331720"/>
            <a:ext cx="293699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Helvetica Neue"/>
                <a:cs typeface="Helvetica Neue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8409" y="2331720"/>
            <a:ext cx="293699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Helvetica Neue"/>
                <a:cs typeface="Helvetica Neue"/>
              </a:rPr>
              <a:t>Can you share it?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880360"/>
            <a:ext cx="1045159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68680" y="3447288"/>
            <a:ext cx="10451592" cy="0"/>
          </a:xfrm>
          <a:prstGeom prst="bentConnector3">
            <a:avLst/>
          </a:prstGeom>
          <a:ln w="1270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96695" y="2880360"/>
            <a:ext cx="39923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1">
                <a:solidFill>
                  <a:srgbClr val="1B1B1A"/>
                </a:solidFill>
                <a:latin typeface="Helvetica Neue"/>
                <a:cs typeface="Helvetica Neue"/>
              </a:rPr>
              <a:t>Preprint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08531" y="2880360"/>
            <a:ext cx="290042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The manuscript before peer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8409" y="2880360"/>
            <a:ext cx="290042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Yes, freely (check the journal first)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447288"/>
            <a:ext cx="10451592" cy="566928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868680" y="4014215"/>
            <a:ext cx="10451592" cy="0"/>
          </a:xfrm>
          <a:prstGeom prst="bentConnector3">
            <a:avLst/>
          </a:prstGeom>
          <a:ln w="1270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96695" y="3447288"/>
            <a:ext cx="39923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1">
                <a:solidFill>
                  <a:srgbClr val="1B1B1A"/>
                </a:solidFill>
                <a:latin typeface="Helvetica Neue"/>
                <a:cs typeface="Helvetica Neue"/>
              </a:rPr>
              <a:t>AAM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8531" y="3447288"/>
            <a:ext cx="290042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Accepted Author Manuscript: after review and acceptance, in your own formatting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8409" y="3447288"/>
            <a:ext cx="290042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Green OA route, often after an embargo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4014215"/>
            <a:ext cx="1045159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68680" y="4581144"/>
            <a:ext cx="10451592" cy="0"/>
          </a:xfrm>
          <a:prstGeom prst="bentConnector3">
            <a:avLst/>
          </a:prstGeom>
          <a:ln w="1270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96695" y="4014215"/>
            <a:ext cx="39923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1">
                <a:solidFill>
                  <a:srgbClr val="1B1B1A"/>
                </a:solidFill>
                <a:latin typeface="Helvetica Neue"/>
                <a:cs typeface="Helvetica Neue"/>
              </a:rPr>
              <a:t>VoR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8531" y="4014215"/>
            <a:ext cx="290042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Version of Record: the publisher's final official typeset 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8409" y="4014215"/>
            <a:ext cx="290042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Usually no, unless gold open access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4782312"/>
            <a:ext cx="10451592" cy="1234440"/>
          </a:xfrm>
          <a:prstGeom prst="rect">
            <a:avLst/>
          </a:prstGeom>
          <a:solidFill>
            <a:srgbClr val="EC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lnSpc>
                <a:spcPct val="116000"/>
              </a:lnSpc>
            </a:pPr>
            <a:r>
              <a:rPr sz="1400" b="1" spc="140">
                <a:solidFill>
                  <a:srgbClr val="23439B"/>
                </a:solidFill>
                <a:latin typeface="Helvetica Neue"/>
                <a:cs typeface="Helvetica Neue"/>
              </a:rPr>
              <a:t>GREEN OA   </a:t>
            </a:r>
            <a:r>
              <a:rPr sz="1600">
                <a:solidFill>
                  <a:srgbClr val="1B1B1A"/>
                </a:solidFill>
                <a:latin typeface="Helvetica Neue"/>
                <a:cs typeface="Helvetica Neue"/>
              </a:rPr>
              <a:t>Green open access usually lets you self-archive the AAM, sometimes only after an embargo period.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7824" y="4782312"/>
            <a:ext cx="0" cy="1234440"/>
          </a:xfrm>
          <a:prstGeom prst="bentConnector3">
            <a:avLst/>
          </a:prstGeom>
          <a:ln w="50800">
            <a:solidFill>
              <a:srgbClr val="234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686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spc="160">
                <a:solidFill>
                  <a:srgbClr val="6E6A62"/>
                </a:solidFill>
                <a:latin typeface="Helvetica Neue"/>
                <a:cs typeface="Helvetica Neue"/>
              </a:rPr>
              <a:t>BTAJI CREW   /   PUBLISHING YOUR RESEARCH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419088"/>
            <a:ext cx="13075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6E6A62"/>
                </a:solidFill>
                <a:latin typeface="Menlo"/>
                <a:cs typeface="Menlo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472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7373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spc="300">
                <a:solidFill>
                  <a:srgbClr val="CBCED6"/>
                </a:solidFill>
                <a:latin typeface="Helvetica Neue"/>
                <a:cs typeface="Helvetica Neue"/>
              </a:rPr>
              <a:t>PART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03120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5000" b="1">
                <a:solidFill>
                  <a:srgbClr val="FFFFFF"/>
                </a:solidFill>
                <a:latin typeface="Georgia"/>
                <a:cs typeface="Georgia"/>
              </a:rPr>
              <a:t>Your next step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3977639"/>
            <a:ext cx="2743200" cy="0"/>
          </a:xfrm>
          <a:prstGeom prst="bentConnector3">
            <a:avLst/>
          </a:prstGeom>
          <a:ln w="304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68680" y="420624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i="1">
                <a:solidFill>
                  <a:srgbClr val="E7E6E1"/>
                </a:solidFill>
                <a:latin typeface="Georgia"/>
                <a:cs typeface="Georgia"/>
              </a:rPr>
              <a:t>Reach professors, and a plan for your paper.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585216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CBCED6"/>
                </a:solidFill>
                <a:latin typeface="Menlo"/>
                <a:cs typeface="Menlo"/>
              </a:rPr>
              <a:t>08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104515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spc="240">
                <a:solidFill>
                  <a:srgbClr val="23439B"/>
                </a:solidFill>
                <a:latin typeface="Helvetica Neue"/>
                <a:cs typeface="Helvetica Neue"/>
              </a:rPr>
              <a:t>FROM PAPER TO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932688"/>
            <a:ext cx="1045159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400" b="1">
                <a:solidFill>
                  <a:srgbClr val="1B1B1A"/>
                </a:solidFill>
                <a:latin typeface="Georgia"/>
                <a:cs typeface="Georgia"/>
              </a:rPr>
              <a:t>Use your paper to reach professors abroad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1783080"/>
            <a:ext cx="10451592" cy="0"/>
          </a:xfrm>
          <a:prstGeom prst="bentConnector3">
            <a:avLst/>
          </a:prstGeom>
          <a:ln w="1778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68680" y="2240280"/>
            <a:ext cx="6675120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9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900">
                <a:solidFill>
                  <a:srgbClr val="1B1B1A"/>
                </a:solidFill>
                <a:latin typeface="Helvetica Neue"/>
                <a:cs typeface="Helvetica Neue"/>
              </a:rPr>
              <a:t>A first-author preprint or paper strengthens a funded MS or PhD application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9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900">
                <a:solidFill>
                  <a:srgbClr val="1B1B1A"/>
                </a:solidFill>
                <a:latin typeface="Helvetica Neue"/>
                <a:cs typeface="Helvetica Neue"/>
              </a:rPr>
              <a:t>Send a short, specific cold email that shows you read their work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9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900">
                <a:solidFill>
                  <a:srgbClr val="1B1B1A"/>
                </a:solidFill>
                <a:latin typeface="Helvetica Neue"/>
                <a:cs typeface="Helvetica Neue"/>
              </a:rPr>
              <a:t>Link your preprint and GitHub in the body, no big attachments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9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900">
                <a:solidFill>
                  <a:srgbClr val="1B1B1A"/>
                </a:solidFill>
                <a:latin typeface="Helvetica Neue"/>
                <a:cs typeface="Helvetica Neue"/>
              </a:rPr>
              <a:t>Time it to admission cycles: email 2 to 4 months before the deadline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9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900">
                <a:solidFill>
                  <a:srgbClr val="1B1B1A"/>
                </a:solidFill>
                <a:latin typeface="Helvetica Neue"/>
                <a:cs typeface="Helvetica Neue"/>
              </a:rPr>
              <a:t>Set up an ORCID, your free permanent author ID, before your first submission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2286000"/>
            <a:ext cx="3502152" cy="3291840"/>
          </a:xfrm>
          <a:prstGeom prst="rect">
            <a:avLst/>
          </a:prstGeom>
          <a:solidFill>
            <a:srgbClr val="EC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/>
          <a:lstStyle/>
          <a:p>
            <a:pPr algn="ctr"/>
            <a:r>
              <a:rPr sz="1200" b="1" spc="160">
                <a:solidFill>
                  <a:srgbClr val="23439B"/>
                </a:solidFill>
                <a:latin typeface="Helvetica Neue"/>
                <a:cs typeface="Helvetica Neue"/>
              </a:rPr>
              <a:t>ORCID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700" i="1">
                <a:solidFill>
                  <a:srgbClr val="1B1B1A"/>
                </a:solidFill>
                <a:latin typeface="Georgia"/>
                <a:cs typeface="Georgia"/>
              </a:rPr>
              <a:t>Free, permanent 16-digit author ID. Create it at orcid.org before you submit so it is on the paper from day one.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836408" y="2286000"/>
            <a:ext cx="0" cy="3291840"/>
          </a:xfrm>
          <a:prstGeom prst="bentConnector3">
            <a:avLst/>
          </a:prstGeom>
          <a:ln w="50800">
            <a:solidFill>
              <a:srgbClr val="234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686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spc="160">
                <a:solidFill>
                  <a:srgbClr val="6E6A62"/>
                </a:solidFill>
                <a:latin typeface="Helvetica Neue"/>
                <a:cs typeface="Helvetica Neue"/>
              </a:rPr>
              <a:t>BTAJI CREW   /   PUBLISHING YOUR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19088"/>
            <a:ext cx="13075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6E6A62"/>
                </a:solidFill>
                <a:latin typeface="Menlo"/>
                <a:cs typeface="Menlo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104515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spc="240">
                <a:solidFill>
                  <a:srgbClr val="23439B"/>
                </a:solidFill>
                <a:latin typeface="Helvetica Neue"/>
                <a:cs typeface="Helvetica Neue"/>
              </a:rPr>
              <a:t>A CAUTIOUS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932688"/>
            <a:ext cx="1045159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200" b="1">
                <a:solidFill>
                  <a:srgbClr val="1B1B1A"/>
                </a:solidFill>
                <a:latin typeface="Georgia"/>
                <a:cs typeface="Georgia"/>
              </a:rPr>
              <a:t>A careful plan for the ECG example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1783080"/>
            <a:ext cx="10451592" cy="0"/>
          </a:xfrm>
          <a:prstGeom prst="bentConnector3">
            <a:avLst/>
          </a:prstGeom>
          <a:ln w="1778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868680" y="2331720"/>
            <a:ext cx="10451592" cy="548640"/>
          </a:xfrm>
          <a:prstGeom prst="rect">
            <a:avLst/>
          </a:prstGeom>
          <a:solidFill>
            <a:srgbClr val="234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331720"/>
            <a:ext cx="1965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Helvetica Neue"/>
                <a:cs typeface="Helvetica Neue"/>
              </a:rPr>
              <a:t>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45536" y="233172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Helvetica Neue"/>
                <a:cs typeface="Helvetica Neue"/>
              </a:rPr>
              <a:t>Possible route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03136" y="2331720"/>
            <a:ext cx="446227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Helvetica Neue"/>
                <a:cs typeface="Helvetica Neue"/>
              </a:rPr>
              <a:t>What to verify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880360"/>
            <a:ext cx="104515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68680" y="3703320"/>
            <a:ext cx="10451592" cy="0"/>
          </a:xfrm>
          <a:prstGeom prst="bentConnector3">
            <a:avLst/>
          </a:prstGeom>
          <a:ln w="1270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96695" y="2880360"/>
            <a:ext cx="192938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1">
                <a:solidFill>
                  <a:srgbClr val="1B1B1A"/>
                </a:solidFill>
                <a:latin typeface="Helvetica Neue"/>
                <a:cs typeface="Helvetica Neue"/>
              </a:rPr>
              <a:t>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45536" y="2880360"/>
            <a:ext cx="343814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Preprint, after checking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03136" y="2880360"/>
            <a:ext cx="4425696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Manuscript readiness, target-venue policy, and endorsement if required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703320"/>
            <a:ext cx="10451592" cy="82296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868680" y="4526280"/>
            <a:ext cx="10451592" cy="0"/>
          </a:xfrm>
          <a:prstGeom prst="bentConnector3">
            <a:avLst/>
          </a:prstGeom>
          <a:ln w="1270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96695" y="3703320"/>
            <a:ext cx="192938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1">
                <a:solidFill>
                  <a:srgbClr val="1B1B1A"/>
                </a:solidFill>
                <a:latin typeface="Helvetica Neue"/>
                <a:cs typeface="Helvetica Neue"/>
              </a:rPr>
              <a:t>Next suitable deadline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5536" y="3703320"/>
            <a:ext cx="343814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Computing in Cardiology, MICCAI workshop, or IEEE EMBC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3136" y="3703320"/>
            <a:ext cx="4425696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Current Call for Papers, scope, proceedings, fees, and presentation rules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4526280"/>
            <a:ext cx="104515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68680" y="5349240"/>
            <a:ext cx="10451592" cy="0"/>
          </a:xfrm>
          <a:prstGeom prst="bentConnector3">
            <a:avLst/>
          </a:prstGeom>
          <a:ln w="1270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96695" y="4526280"/>
            <a:ext cx="192938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1">
                <a:solidFill>
                  <a:srgbClr val="1B1B1A"/>
                </a:solidFill>
                <a:latin typeface="Helvetica Neue"/>
                <a:cs typeface="Helvetica Neue"/>
              </a:rPr>
              <a:t>After stronger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45536" y="4526280"/>
            <a:ext cx="343814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Medical-AI or signal-processing journal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3136" y="4526280"/>
            <a:ext cx="4425696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Scope, indexing, quartile, review time, and APC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5349240"/>
            <a:ext cx="10451592" cy="82296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868680" y="6172200"/>
            <a:ext cx="10451592" cy="0"/>
          </a:xfrm>
          <a:prstGeom prst="bentConnector3">
            <a:avLst/>
          </a:prstGeom>
          <a:ln w="1270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96695" y="5349240"/>
            <a:ext cx="192938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1">
                <a:solidFill>
                  <a:srgbClr val="1B1B1A"/>
                </a:solidFill>
                <a:latin typeface="Helvetica Neue"/>
                <a:cs typeface="Helvetica Neue"/>
              </a:rPr>
              <a:t>Always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45536" y="5349240"/>
            <a:ext cx="343814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Report limitations honestly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3136" y="5349240"/>
            <a:ext cx="4425696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E6A62"/>
                </a:solidFill>
                <a:latin typeface="Helvetica Neue"/>
                <a:cs typeface="Helvetica Neue"/>
              </a:rPr>
              <a:t>No unsupported SOTA, leaderboard, generalisation, or clinical claims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spc="160">
                <a:solidFill>
                  <a:srgbClr val="6E6A62"/>
                </a:solidFill>
                <a:latin typeface="Helvetica Neue"/>
                <a:cs typeface="Helvetica Neue"/>
              </a:rPr>
              <a:t>BTAJI CREW   /   PUBLISHING YOUR RESEARCH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419088"/>
            <a:ext cx="13075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6E6A62"/>
                </a:solidFill>
                <a:latin typeface="Menlo"/>
                <a:cs typeface="Menlo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104515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spc="240">
                <a:solidFill>
                  <a:srgbClr val="23439B"/>
                </a:solidFill>
                <a:latin typeface="Helvetica Neue"/>
                <a:cs typeface="Helvetica Neue"/>
              </a:rPr>
              <a:t>DO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932688"/>
            <a:ext cx="1045159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400" b="1">
                <a:solidFill>
                  <a:srgbClr val="1B1B1A"/>
                </a:solidFill>
                <a:latin typeface="Georgia"/>
                <a:cs typeface="Georgia"/>
              </a:rPr>
              <a:t>What to do this week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1783080"/>
            <a:ext cx="10451592" cy="0"/>
          </a:xfrm>
          <a:prstGeom prst="bentConnector3">
            <a:avLst/>
          </a:prstGeom>
          <a:ln w="17780">
            <a:solidFill>
              <a:srgbClr val="E4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68680" y="2240280"/>
            <a:ext cx="10451592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9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900">
                <a:solidFill>
                  <a:srgbClr val="1B1B1A"/>
                </a:solidFill>
                <a:latin typeface="Helvetica Neue"/>
                <a:cs typeface="Helvetica Neue"/>
              </a:rPr>
              <a:t>Pick your route by your goal first: degree, local job, or PhD abroad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9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900">
                <a:solidFill>
                  <a:srgbClr val="1B1B1A"/>
                </a:solidFill>
                <a:latin typeface="Helvetica Neue"/>
                <a:cs typeface="Helvetica Neue"/>
              </a:rPr>
              <a:t>Make an ORCID at orcid.org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9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900">
                <a:solidFill>
                  <a:srgbClr val="1B1B1A"/>
                </a:solidFill>
                <a:latin typeface="Helvetica Neue"/>
                <a:cs typeface="Helvetica Neue"/>
              </a:rPr>
              <a:t>Run the right questions for the route you chose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9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900">
                <a:solidFill>
                  <a:srgbClr val="1B1B1A"/>
                </a:solidFill>
                <a:latin typeface="Helvetica Neue"/>
                <a:cs typeface="Helvetica Neue"/>
              </a:rPr>
              <a:t>Check HJRS and indexing at the official source, not a screenshot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900" b="1">
                <a:solidFill>
                  <a:srgbClr val="23439B"/>
                </a:solidFill>
                <a:latin typeface="Helvetica Neue"/>
                <a:cs typeface="Helvetica Neue"/>
              </a:rPr>
              <a:t>▪  </a:t>
            </a:r>
            <a:r>
              <a:rPr sz="1900">
                <a:solidFill>
                  <a:srgbClr val="1B1B1A"/>
                </a:solidFill>
                <a:latin typeface="Helvetica Neue"/>
                <a:cs typeface="Helvetica Neue"/>
              </a:rPr>
              <a:t>Save dated evidence of every check you make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spc="160">
                <a:solidFill>
                  <a:srgbClr val="6E6A62"/>
                </a:solidFill>
                <a:latin typeface="Helvetica Neue"/>
                <a:cs typeface="Helvetica Neue"/>
              </a:rPr>
              <a:t>BTAJI CREW   /   PUBLISHING YOUR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6E6A62"/>
                </a:solidFill>
                <a:latin typeface="Menlo"/>
                <a:cs typeface="Menlo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777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spc="240">
                <a:solidFill>
                  <a:srgbClr val="9EB2EC"/>
                </a:solidFill>
                <a:latin typeface="Helvetica Neue"/>
                <a:cs typeface="Helvetica Neue"/>
              </a:rPr>
              <a:t>BTAJI CREW  /  RESEARCH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9456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Georgia"/>
                <a:cs typeface="Georgia"/>
              </a:rPr>
              <a:t>Now go </a:t>
            </a:r>
            <a:r>
              <a:rPr sz="6000" b="1" i="1">
                <a:solidFill>
                  <a:srgbClr val="9EB2EC"/>
                </a:solidFill>
                <a:latin typeface="Georgia"/>
                <a:cs typeface="Georgia"/>
              </a:rPr>
              <a:t>publish.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3977639"/>
            <a:ext cx="2743200" cy="0"/>
          </a:xfrm>
          <a:prstGeom prst="bentConnector3">
            <a:avLst/>
          </a:prstGeom>
          <a:ln w="30480">
            <a:solidFill>
              <a:srgbClr val="234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68680" y="4187952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i="1">
                <a:solidFill>
                  <a:srgbClr val="C9CCD2"/>
                </a:solidFill>
                <a:latin typeface="Georgia"/>
                <a:cs typeface="Georgia"/>
              </a:rPr>
              <a:t>Choose and verify your next publication step this week. Post your plan in the group and we answer questions live.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120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9EB2EC"/>
                </a:solidFill>
                <a:latin typeface="Georgia"/>
                <a:cs typeface="Georgia"/>
              </a:rPr>
              <a:t>Check the policy, choose your route, and publish responsibly.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806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FFFFFF"/>
                </a:solidFill>
                <a:latin typeface="Menlo"/>
                <a:cs typeface="Menlo"/>
              </a:rPr>
              <a:t>github.com/muhammadibrahim313/btaji-crew-research-lab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