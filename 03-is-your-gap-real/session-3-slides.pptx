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7" r:id="rId41"/>
    <p:sldId id="298" r:id="rId42"/>
    <p:sldId id="295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48"/>
    <p:restoredTop sz="94620"/>
  </p:normalViewPr>
  <p:slideViewPr>
    <p:cSldViewPr snapToGrid="0" snapToObjects="1">
      <p:cViewPr varScale="1">
        <p:scale>
          <a:sx n="114" d="100"/>
          <a:sy n="114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FB62F9-F648-8D42-A21B-451F531A0D44}" type="datetimeFigureOut">
              <a:rPr lang="en-PK" smtClean="0"/>
              <a:t>04/07/2026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CAB54-1C76-F343-BD10-B85C52A41FDE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1431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CAB54-1C76-F343-BD10-B85C52A41FDE}" type="slidenum">
              <a:rPr lang="en-PK" smtClean="0"/>
              <a:t>42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40700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mmunity.solafune.com/competitions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rand-challenge.org/challenges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dmissions.kaust.edu.sa/internship/search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oody-challenge.physionet.org/2024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mc.ncbi.nlm.nih.gov/articles/PMC11054468/" TargetMode="External"/><Relationship Id="rId4" Type="http://schemas.openxmlformats.org/officeDocument/2006/relationships/hyperlink" Target="https://iopscience.iop.org/article/10.1088/1361-6579/ad4954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10.14185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uhammadibrahim313/btaji-crew-research-lab" TargetMode="Externa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E29f5rozhAo8RbKjA00eS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C01A1A"/>
                </a:solidFill>
                <a:latin typeface="Times New Roman"/>
                <a:cs typeface="Times New Roman"/>
              </a:rPr>
              <a:t>BTAJI CREW  ·  SESSION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8638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0" b="1">
                <a:solidFill>
                  <a:srgbClr val="1A1A1A"/>
                </a:solidFill>
                <a:latin typeface="Times New Roman"/>
                <a:cs typeface="Times New Roman"/>
              </a:rPr>
              <a:t>Is Your Gap </a:t>
            </a:r>
            <a:r>
              <a:rPr sz="6800" b="1" i="1">
                <a:solidFill>
                  <a:srgbClr val="C01A1A"/>
                </a:solidFill>
                <a:latin typeface="Times New Roman"/>
                <a:cs typeface="Times New Roman"/>
              </a:rPr>
              <a:t>Real?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i="1">
                <a:solidFill>
                  <a:srgbClr val="707070"/>
                </a:solidFill>
                <a:latin typeface="Times New Roman"/>
                <a:cs typeface="Times New Roman"/>
              </a:rPr>
              <a:t>Where research ideas come from, and how to prove a gap is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C01A1A"/>
                </a:solidFill>
                <a:latin typeface="Times New Roman"/>
                <a:cs typeface="Times New Roman"/>
              </a:rPr>
              <a:t>HOSTED BY   </a:t>
            </a:r>
            <a:r>
              <a:rPr sz="1700">
                <a:solidFill>
                  <a:srgbClr val="1A1A1A"/>
                </a:solidFill>
                <a:latin typeface="Times New Roman"/>
                <a:cs typeface="Times New Roman"/>
              </a:rPr>
              <a:t>Muhammad Ibrahim Qasmi  &amp;  Zulqarnain Ali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707070"/>
                </a:solidFill>
                <a:latin typeface="Times New Roman"/>
                <a:cs typeface="Times New Roman"/>
              </a:rPr>
              <a:t>Free   ·   Urdu   ·   Beginner friendly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25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Times New Roman"/>
                <a:cs typeface="Times New Roman"/>
              </a:rPr>
              <a:t>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55448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600" b="1">
                <a:solidFill>
                  <a:srgbClr val="C01A1A"/>
                </a:solidFill>
                <a:latin typeface="Times New Roman"/>
                <a:cs typeface="Times New Roman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1605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i="1">
                <a:solidFill>
                  <a:srgbClr val="1A1A1A"/>
                </a:solidFill>
                <a:latin typeface="Times New Roman"/>
                <a:cs typeface="Times New Roman"/>
              </a:rPr>
              <a:t>Three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5760720"/>
            <a:ext cx="10543032" cy="0"/>
          </a:xfrm>
          <a:prstGeom prst="bentConnector3">
            <a:avLst/>
          </a:prstGeom>
          <a:ln w="9525">
            <a:solidFill>
              <a:srgbClr val="70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598932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C01A1A"/>
                </a:solidFill>
                <a:latin typeface="Times New Roman"/>
                <a:cs typeface="Times New Roman"/>
              </a:rPr>
              <a:t>IDEAS</a:t>
            </a:r>
            <a:r>
              <a:rPr sz="1600">
                <a:solidFill>
                  <a:srgbClr val="707070"/>
                </a:solidFill>
                <a:latin typeface="Times New Roman"/>
                <a:cs typeface="Times New Roman"/>
              </a:rPr>
              <a:t>      →      </a:t>
            </a:r>
            <a:r>
              <a:rPr sz="1600" b="1">
                <a:solidFill>
                  <a:srgbClr val="1A1A1A"/>
                </a:solidFill>
                <a:latin typeface="Times New Roman"/>
                <a:cs typeface="Times New Roman"/>
              </a:rPr>
              <a:t>SEARCH</a:t>
            </a:r>
            <a:r>
              <a:rPr sz="1600">
                <a:solidFill>
                  <a:srgbClr val="707070"/>
                </a:solidFill>
                <a:latin typeface="Times New Roman"/>
                <a:cs typeface="Times New Roman"/>
              </a:rPr>
              <a:t>      →      </a:t>
            </a:r>
            <a:r>
              <a:rPr sz="1600" b="1">
                <a:solidFill>
                  <a:srgbClr val="1A1A1A"/>
                </a:solidFill>
                <a:latin typeface="Times New Roman"/>
                <a:cs typeface="Times New Roman"/>
              </a:rPr>
              <a:t>SWEEP</a:t>
            </a:r>
            <a:r>
              <a:rPr sz="1600">
                <a:solidFill>
                  <a:srgbClr val="707070"/>
                </a:solidFill>
                <a:latin typeface="Times New Roman"/>
                <a:cs typeface="Times New Roman"/>
              </a:rPr>
              <a:t>      →      </a:t>
            </a:r>
            <a:r>
              <a:rPr sz="1600" b="1">
                <a:solidFill>
                  <a:srgbClr val="1A1A1A"/>
                </a:solidFill>
                <a:latin typeface="Times New Roman"/>
                <a:cs typeface="Times New Roman"/>
              </a:rPr>
              <a:t>VERIFY</a:t>
            </a:r>
            <a:r>
              <a:rPr sz="1600">
                <a:solidFill>
                  <a:srgbClr val="707070"/>
                </a:solidFill>
                <a:latin typeface="Times New Roman"/>
                <a:cs typeface="Times New Roman"/>
              </a:rPr>
              <a:t>      →      </a:t>
            </a:r>
            <a:r>
              <a:rPr sz="1600" b="1">
                <a:solidFill>
                  <a:srgbClr val="1A1A1A"/>
                </a:solidFill>
                <a:latin typeface="Times New Roman"/>
                <a:cs typeface="Times New Roman"/>
              </a:rPr>
              <a:t>VALIDATE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Where we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have been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01774" y="1686682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Session 1: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what research is, and how to read a paper without drowning.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Session 2: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idea to hypothesis, literature review, and turning a limitation into a gap and a question.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Today we scale that up, and add the step nobody teaches: proving the gap is actually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Two parts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17717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PART 1  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Where research ideas come from. Stop staring at a blank page.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PART 2  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Prove your gap is real. A full worked example, live.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By the end you will know where to find a problem, and how to check it is not already 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800" b="1">
                <a:solidFill>
                  <a:srgbClr val="C01A1A"/>
                </a:solidFill>
                <a:latin typeface="Times New Roman"/>
                <a:cs typeface="Times New Roman"/>
              </a:rPr>
              <a:t>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200" b="1">
                <a:solidFill>
                  <a:srgbClr val="1A1A1A"/>
                </a:solidFill>
                <a:latin typeface="Times New Roman"/>
                <a:cs typeface="Times New Roman"/>
              </a:rPr>
              <a:t>Where do research ideas come from?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707070"/>
                </a:solidFill>
                <a:latin typeface="Times New Roman"/>
                <a:cs typeface="Times New Roman"/>
              </a:rPr>
              <a:t>The blank page is the hard part. Go where the field already shows you what is 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CORE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Do not invent a topic.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Borrow one.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96596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Go where the field shows what is active, hands you a dataset, and gives a path to publish.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Take a competition that just ended: grab its fresh dataset and a strong public solution.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Reproduce the baseline, then add one honest new thing: a lighter model, a local data slice, a robustness check.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Write it up as a short benchmark or technical report. That is a real first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3977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SOURCE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Kaggle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12916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21945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The biggest home for ML competitions, free datasets, and shared notebooks. Free GPUs in the browser.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Read Active and Recently Ended competitions. Each is a real problem with data, a metric, and a leaderboard.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Beginner gold: take a just-ended comp, open the winners' write-ups, extend one thing, post a benchmark paper.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2194559"/>
          </a:xfrm>
          <a:prstGeom prst="roundRect">
            <a:avLst/>
          </a:prstGeom>
          <a:solidFill>
            <a:srgbClr val="F3F2EF"/>
          </a:solidFill>
          <a:ln w="15875">
            <a:solidFill>
              <a:srgbClr val="C0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/>
            <a:r>
              <a:rPr sz="1400" b="1">
                <a:solidFill>
                  <a:srgbClr val="C01A1A"/>
                </a:solidFill>
                <a:latin typeface="Times New Roman"/>
                <a:cs typeface="Times New Roman"/>
              </a:rPr>
              <a:t>FOR EXAMPLE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A1A1A"/>
                </a:solidFill>
                <a:latin typeface="Times New Roman"/>
                <a:cs typeface="Times New Roman"/>
              </a:rPr>
              <a:t>A comp ended last month. Its dataset is fresh, the winning code is public. Reproduce it, add a Pakistani data slice, write it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94360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 dirty="0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kaggle.com</a:t>
            </a:r>
          </a:p>
        </p:txBody>
      </p:sp>
      <p:pic>
        <p:nvPicPr>
          <p:cNvPr id="8" name="Picture 7" descr="ka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96568"/>
            <a:ext cx="621351" cy="62135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SOURCE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Solafune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45842" y="1504904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21945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A free competition platform built only for satellite and Earth-observation problems.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Far less crowded than Kaggle, so datasets are novel and your ranking and paper stand out more.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Deforestation, farm fields, solar panels, super-resolution. A paper can come straight out of one competition.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2194559"/>
          </a:xfrm>
          <a:prstGeom prst="roundRect">
            <a:avLst/>
          </a:prstGeom>
          <a:solidFill>
            <a:srgbClr val="F3F2EF"/>
          </a:solidFill>
          <a:ln w="15875">
            <a:solidFill>
              <a:srgbClr val="C0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/>
            <a:r>
              <a:rPr sz="1400" b="1" dirty="0">
                <a:solidFill>
                  <a:srgbClr val="C01A1A"/>
                </a:solidFill>
                <a:latin typeface="Times New Roman"/>
                <a:cs typeface="Times New Roman"/>
              </a:rPr>
              <a:t>FOR EXAMPLE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 dirty="0">
                <a:solidFill>
                  <a:srgbClr val="1A1A1A"/>
                </a:solidFill>
                <a:latin typeface="Times New Roman"/>
                <a:cs typeface="Times New Roman"/>
              </a:rPr>
              <a:t>Less crowded means a few hundred competitors, not tens of thousands. Your result is easier to make notable.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6072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 dirty="0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community.solafune.com/competitions</a:t>
            </a:r>
          </a:p>
        </p:txBody>
      </p:sp>
      <p:pic>
        <p:nvPicPr>
          <p:cNvPr id="8" name="Picture 7" descr="solaf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SOURCE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Grand Challenge and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MICCAI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824393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21945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Hundreds of medical-imaging challenges, many of them the official challenges of MICCAI, the top venue.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Each page states the clinical problem, the metric, and the leaderboard. The research question is handed to you.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Publish routes: enter and write a challenge paper, extend a closed challenge's public data, or co-author the overview paper.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8968" y="585216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 dirty="0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grand-challenge.org/challenges</a:t>
            </a:r>
          </a:p>
        </p:txBody>
      </p:sp>
      <p:pic>
        <p:nvPicPr>
          <p:cNvPr id="8" name="Picture 7" descr="grand_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8 / 40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7939FD-5C30-BDD4-5217-B4B9157C4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24" y="5369795"/>
            <a:ext cx="2718106" cy="9944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9CB8E0-22C3-432F-0C22-ABAF522A4778}"/>
              </a:ext>
            </a:extLst>
          </p:cNvPr>
          <p:cNvSpPr txBox="1"/>
          <p:nvPr/>
        </p:nvSpPr>
        <p:spPr>
          <a:xfrm>
            <a:off x="7268257" y="583765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https://miccai.org/index.php/</a:t>
            </a:r>
            <a:endParaRPr lang="en-GB" sz="1800" u="sng" dirty="0">
              <a:solidFill>
                <a:srgbClr val="1A4EC8"/>
              </a:solidFill>
              <a:latin typeface="Times New Roman"/>
              <a:cs typeface="Times New Roman"/>
              <a:hlinkClick r:id="rId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SOURCE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KAUST</a:t>
            </a: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 project search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3032" cy="21945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A searchable list of hundreds of faculty research projects, dozens in AI and ML, each written by a professor.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Two uses: apply for the funded internship, OR mine the descriptions. A professor's open problem is a gap handed to you.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This is where the idea for the LoRA forgetting study came from. Read what researchers are actually stuck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8968" y="594360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 dirty="0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admissions.kaust.edu.sa/internship/search</a:t>
            </a:r>
          </a:p>
        </p:txBody>
      </p:sp>
      <p:pic>
        <p:nvPicPr>
          <p:cNvPr id="8" name="Picture 7" descr="kau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48640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MORE PLACES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Times New Roman"/>
                <a:cs typeface="Times New Roman"/>
              </a:rPr>
              <a:t>A few more, then </a:t>
            </a:r>
            <a:r>
              <a:rPr sz="3200" b="1" i="1">
                <a:solidFill>
                  <a:srgbClr val="C01A1A"/>
                </a:solidFill>
                <a:latin typeface="Times New Roman"/>
                <a:cs typeface="Times New Roman"/>
              </a:rPr>
              <a:t>pick one</a:t>
            </a:r>
            <a:r>
              <a:rPr sz="3200" b="1">
                <a:solidFill>
                  <a:srgbClr val="1A1A1A"/>
                </a:solidFill>
                <a:latin typeface="Times New Roman"/>
                <a:cs typeface="Times New Roman"/>
              </a:rPr>
              <a:t> and go deep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679171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02536"/>
            <a:ext cx="10543032" cy="26060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Competitions: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Zindi (Africa), </a:t>
            </a:r>
            <a:r>
              <a:rPr sz="2200" b="0" i="0" dirty="0" err="1">
                <a:solidFill>
                  <a:srgbClr val="1A1A1A"/>
                </a:solidFill>
                <a:latin typeface="Times New Roman"/>
                <a:cs typeface="Times New Roman"/>
              </a:rPr>
              <a:t>DrivenData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 (social good), </a:t>
            </a:r>
            <a:r>
              <a:rPr sz="2200" b="0" i="0" dirty="0" err="1">
                <a:solidFill>
                  <a:srgbClr val="1A1A1A"/>
                </a:solidFill>
                <a:latin typeface="Times New Roman"/>
                <a:cs typeface="Times New Roman"/>
              </a:rPr>
              <a:t>AIcrowd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 (research), </a:t>
            </a:r>
            <a:r>
              <a:rPr sz="2200" b="0" i="0" dirty="0" err="1">
                <a:solidFill>
                  <a:srgbClr val="1A1A1A"/>
                </a:solidFill>
                <a:latin typeface="Times New Roman"/>
                <a:cs typeface="Times New Roman"/>
              </a:rPr>
              <a:t>Codabench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, DREAM (biomedical).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See what is hot: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Hugging Face Papers, </a:t>
            </a:r>
            <a:r>
              <a:rPr sz="2200" b="0" i="0" dirty="0" err="1">
                <a:solidFill>
                  <a:srgbClr val="1A1A1A"/>
                </a:solidFill>
                <a:latin typeface="Times New Roman"/>
                <a:cs typeface="Times New Roman"/>
              </a:rPr>
              <a:t>OpenReview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 (reviewers list every weakness), survey papers' future-work.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Map a topic: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Connected Papers, </a:t>
            </a:r>
            <a:r>
              <a:rPr sz="2200" b="0" i="0" dirty="0" err="1">
                <a:solidFill>
                  <a:srgbClr val="1A1A1A"/>
                </a:solidFill>
                <a:latin typeface="Times New Roman"/>
                <a:cs typeface="Times New Roman"/>
              </a:rPr>
              <a:t>alphaXiv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, Papers With Code trending.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Do not use all of them. One source you are excited about beats ten you skim.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65192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707070"/>
                </a:solidFill>
                <a:latin typeface="Times New Roman"/>
                <a:cs typeface="Times New Roman"/>
              </a:rPr>
              <a:t>THE PLATFORMS</a:t>
            </a:r>
          </a:p>
        </p:txBody>
      </p:sp>
      <p:pic>
        <p:nvPicPr>
          <p:cNvPr id="7" name="Picture 6" descr="zin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pic>
        <p:nvPicPr>
          <p:cNvPr id="8" name="Picture 7" descr="driven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5257800"/>
            <a:ext cx="914400" cy="914400"/>
          </a:xfrm>
          <a:prstGeom prst="rect">
            <a:avLst/>
          </a:prstGeom>
        </p:spPr>
      </p:pic>
      <p:pic>
        <p:nvPicPr>
          <p:cNvPr id="9" name="Picture 8" descr="aicrow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257800"/>
            <a:ext cx="914400" cy="914400"/>
          </a:xfrm>
          <a:prstGeom prst="rect">
            <a:avLst/>
          </a:prstGeom>
        </p:spPr>
      </p:pic>
      <p:pic>
        <p:nvPicPr>
          <p:cNvPr id="10" name="Picture 9" descr="coda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5257800"/>
            <a:ext cx="914400" cy="914400"/>
          </a:xfrm>
          <a:prstGeom prst="rect">
            <a:avLst/>
          </a:prstGeom>
        </p:spPr>
      </p:pic>
      <p:pic>
        <p:nvPicPr>
          <p:cNvPr id="11" name="Picture 10" descr="dreamchallen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5257800"/>
            <a:ext cx="914400" cy="914400"/>
          </a:xfrm>
          <a:prstGeom prst="rect">
            <a:avLst/>
          </a:prstGeom>
        </p:spPr>
      </p:pic>
      <p:pic>
        <p:nvPicPr>
          <p:cNvPr id="12" name="Picture 11" descr="huggingfa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5257800"/>
            <a:ext cx="914400" cy="914400"/>
          </a:xfrm>
          <a:prstGeom prst="rect">
            <a:avLst/>
          </a:prstGeom>
        </p:spPr>
      </p:pic>
      <p:pic>
        <p:nvPicPr>
          <p:cNvPr id="13" name="Picture 12" descr="openre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5552" y="5257800"/>
            <a:ext cx="914400" cy="914400"/>
          </a:xfrm>
          <a:prstGeom prst="rect">
            <a:avLst/>
          </a:prstGeom>
        </p:spPr>
      </p:pic>
      <p:pic>
        <p:nvPicPr>
          <p:cNvPr id="14" name="Picture 13" descr="connectedpap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984" y="52578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PART 1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You picked a field. Now,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is it real?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57401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You did not invent a topic. You borrowed an active problem that comes with data and a path to publish.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But an idea is not a gap yet. The next question decides whether it is worth months of your life.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So we switch to Part 2: prove the gap is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Times New Roman"/>
                <a:cs typeface="Times New Roman"/>
              </a:rPr>
              <a:t>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32918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800" b="1">
                <a:solidFill>
                  <a:srgbClr val="C01A1A"/>
                </a:solidFill>
                <a:latin typeface="Times New Roman"/>
                <a:cs typeface="Times New Roman"/>
              </a:rP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343400" y="2148840"/>
            <a:ext cx="18288" cy="0"/>
          </a:xfrm>
          <a:prstGeom prst="bentConnector3">
            <a:avLst/>
          </a:prstGeom>
          <a:ln w="2540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0" y="22860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2000"/>
              </a:lnSpc>
            </a:pPr>
            <a:r>
              <a:rPr sz="4200" b="1">
                <a:solidFill>
                  <a:srgbClr val="1A1A1A"/>
                </a:solidFill>
                <a:latin typeface="Times New Roman"/>
                <a:cs typeface="Times New Roman"/>
              </a:rPr>
              <a:t>Prove your gap is real</a:t>
            </a:r>
          </a:p>
          <a:p>
            <a:pPr>
              <a:lnSpc>
                <a:spcPct val="115000"/>
              </a:lnSpc>
              <a:spcBef>
                <a:spcPts val="1600"/>
              </a:spcBef>
            </a:pPr>
            <a:r>
              <a:rPr sz="2000" i="1">
                <a:solidFill>
                  <a:srgbClr val="707070"/>
                </a:solidFill>
                <a:latin typeface="Times New Roman"/>
                <a:cs typeface="Times New Roman"/>
              </a:rPr>
              <a:t>One worked example the whole way: turning a photo of a paper ECG into a clean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HARDEST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Narrow until it is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small enough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2148840"/>
            <a:ext cx="10543032" cy="27330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Research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  -&gt; Machine Learning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     -&gt; Deep Learning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        -&gt; ECG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           -&gt; ECG image digitization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              -&gt; robustness per damage type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F5F5F5"/>
                </a:solidFill>
                <a:latin typeface="Courier New"/>
                <a:cs typeface="Courier New"/>
              </a:rPr>
              <a:t>                 -&gt; THE GAP: nobody reports it per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01919"/>
            <a:ext cx="10543032" cy="970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0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000" b="0" i="1">
                <a:solidFill>
                  <a:srgbClr val="1A1A1A"/>
                </a:solidFill>
                <a:latin typeface="Times New Roman"/>
                <a:cs typeface="Times New Roman"/>
              </a:rPr>
              <a:t>"ECG" is a field, not a topic. "Which kind of damage breaks ECG digitization" is a topic.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ECG is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not one thing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Arrhythmia and disease classification.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The oldest, most crowded branch.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Foundation and self-supervised models.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The 2025 to 2026 frontier.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>
                <a:solidFill>
                  <a:srgbClr val="C01A1A"/>
                </a:solidFill>
                <a:latin typeface="Times New Roman"/>
                <a:cs typeface="Times New Roman"/>
              </a:rPr>
              <a:t>ECG image digitization.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Our pick. Photo or scan of paper, back to a digital signal.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>
                <a:solidFill>
                  <a:srgbClr val="1A1A1A"/>
                </a:solidFill>
                <a:latin typeface="Times New Roman"/>
                <a:cs typeface="Times New Roman"/>
              </a:rPr>
              <a:t>Explainability, fairness, generalization.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Does it hold up at another hospital?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A1A1A"/>
                </a:solidFill>
                <a:latin typeface="Times New Roman"/>
                <a:cs typeface="Times New Roman"/>
              </a:rPr>
              <a:t>Other branches exist (denoising, generation, wearables). We narrow to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WHY THIS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I was reading, and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found this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2834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Over 300 million 12-lead ECGs are recorded worldwide every year.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Billions of them sit on paper. In Pakistan and most low-resource clinics, paper is still the norm.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Those records are invisible to AI until someone digitizes them. Real problem, local angle.</a:t>
            </a:r>
          </a:p>
        </p:txBody>
      </p:sp>
      <p:pic>
        <p:nvPicPr>
          <p:cNvPr id="6" name="Picture 5" descr="ec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44256"/>
            <a:ext cx="4663440" cy="3083888"/>
          </a:xfrm>
          <a:prstGeom prst="rect">
            <a:avLst/>
          </a:prstGeom>
          <a:ln w="9525">
            <a:solidFill>
              <a:srgbClr val="70707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>
                <a:solidFill>
                  <a:srgbClr val="1A4EC8"/>
                </a:solidFill>
                <a:latin typeface="Times New Roman"/>
                <a:cs typeface="Times New Roman"/>
                <a:hlinkClick r:id="rId3"/>
              </a:rPr>
              <a:t>PhysioNet 2024 Challenge</a:t>
            </a:r>
            <a:r>
              <a:rPr sz="1500">
                <a:latin typeface="Times New Roman"/>
                <a:cs typeface="Times New Roman"/>
              </a:rPr>
              <a:t>      </a:t>
            </a:r>
            <a:r>
              <a:rPr sz="1500" u="sng">
                <a:solidFill>
                  <a:srgbClr val="1A4EC8"/>
                </a:solidFill>
                <a:latin typeface="Times New Roman"/>
                <a:cs typeface="Times New Roman"/>
                <a:hlinkClick r:id="rId4"/>
              </a:rPr>
              <a:t>ECG-Image-Kit</a:t>
            </a:r>
            <a:r>
              <a:rPr sz="1500">
                <a:latin typeface="Times New Roman"/>
                <a:cs typeface="Times New Roman"/>
              </a:rPr>
              <a:t>      </a:t>
            </a:r>
            <a:r>
              <a:rPr sz="1500" u="sng">
                <a:solidFill>
                  <a:srgbClr val="1A4EC8"/>
                </a:solidFill>
                <a:latin typeface="Times New Roman"/>
                <a:cs typeface="Times New Roman"/>
                <a:hlinkClick r:id="rId5"/>
              </a:rPr>
              <a:t>Pakistan study (PMC)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NARROW TO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ECG image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digitization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53687" y="1466504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5852160" cy="2834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In: a phone photo or scan of a paper ECG. Out: a clean digital 12-lead signal.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Benchmark: the PhysioNet 2024 Challenge. Metric: SNR in dB, higher is closer to the true signal.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Free tooling means no hospital access needed: ECG-Image-Kit makes synthetic paper-ECG images.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A doctor in Multan has a drawer of printed ECGs from 2015. To AI they do not exist yet.</a:t>
            </a:r>
          </a:p>
        </p:txBody>
      </p:sp>
      <p:pic>
        <p:nvPicPr>
          <p:cNvPr id="6" name="Picture 5" descr="ec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44256"/>
            <a:ext cx="4663440" cy="3083888"/>
          </a:xfrm>
          <a:prstGeom prst="rect">
            <a:avLst/>
          </a:prstGeom>
          <a:ln w="9525">
            <a:solidFill>
              <a:srgbClr val="70707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733906" y="5588857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 dirty="0">
                <a:solidFill>
                  <a:srgbClr val="1A4EC8"/>
                </a:solidFill>
                <a:latin typeface="Times New Roman"/>
                <a:cs typeface="Times New Roman"/>
                <a:hlinkClick r:id="rId3"/>
              </a:rPr>
              <a:t>SignalSavants winner, 12.15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START BY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Google Scholar, the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naive search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10543032" cy="11887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lnSpc>
                <a:spcPct val="110000"/>
              </a:lnSpc>
            </a:pPr>
            <a:r>
              <a:rPr sz="3600">
                <a:solidFill>
                  <a:srgbClr val="F5F5F5"/>
                </a:solidFill>
                <a:latin typeface="Courier New"/>
                <a:cs typeface="Courier New"/>
              </a:rPr>
              <a:t>ECG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43032" cy="9601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0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000" b="0" i="1">
                <a:solidFill>
                  <a:srgbClr val="1A1A1A"/>
                </a:solidFill>
                <a:latin typeface="Times New Roman"/>
                <a:cs typeface="Times New Roman"/>
              </a:rPr>
              <a:t>Millions of results, 20 years deep, mostly irrelevant. A vague search feels like research but finds nothing.</a:t>
            </a:r>
          </a:p>
        </p:txBody>
      </p:sp>
      <p:pic>
        <p:nvPicPr>
          <p:cNvPr id="8" name="Picture 7" descr="sch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SMART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Synonyms,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plus a date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543032" cy="1371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>
              <a:lnSpc>
                <a:spcPct val="110000"/>
              </a:lnSpc>
            </a:pPr>
            <a:r>
              <a:rPr sz="1500" dirty="0">
                <a:solidFill>
                  <a:srgbClr val="F5F5F5"/>
                </a:solidFill>
                <a:latin typeface="Courier New"/>
                <a:cs typeface="Courier New"/>
              </a:rPr>
              <a:t>("ECG digitization" OR "electrocardiogram digitization"</a:t>
            </a:r>
          </a:p>
          <a:p>
            <a:pPr>
              <a:lnSpc>
                <a:spcPct val="110000"/>
              </a:lnSpc>
            </a:pPr>
            <a:r>
              <a:rPr sz="1500" dirty="0">
                <a:solidFill>
                  <a:srgbClr val="F5F5F5"/>
                </a:solidFill>
                <a:latin typeface="Courier New"/>
                <a:cs typeface="Courier New"/>
              </a:rPr>
              <a:t> OR "paper ECG digitization" OR "scanned ECG digitization"</a:t>
            </a:r>
          </a:p>
          <a:p>
            <a:pPr>
              <a:lnSpc>
                <a:spcPct val="110000"/>
              </a:lnSpc>
            </a:pPr>
            <a:r>
              <a:rPr sz="1500" dirty="0">
                <a:solidFill>
                  <a:srgbClr val="F5F5F5"/>
                </a:solidFill>
                <a:latin typeface="Courier New"/>
                <a:cs typeface="Courier New"/>
              </a:rPr>
              <a:t> OR "ECG image digitization")   after:2025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0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000" dirty="0">
                <a:solidFill>
                  <a:srgbClr val="1A1A1A"/>
                </a:solidFill>
                <a:latin typeface="Times New Roman"/>
                <a:cs typeface="Times New Roman"/>
              </a:rPr>
              <a:t>Quotes force exact phrases. OR catches every naming variant. after:2025 keeps you on the frontier.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0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000" dirty="0">
                <a:solidFill>
                  <a:srgbClr val="1A1A1A"/>
                </a:solidFill>
                <a:latin typeface="Times New Roman"/>
                <a:cs typeface="Times New Roman"/>
              </a:rPr>
              <a:t>Then use the sidebar: Since 2025, and Sort by date to see the newest first.</a:t>
            </a:r>
          </a:p>
        </p:txBody>
      </p:sp>
      <p:pic>
        <p:nvPicPr>
          <p:cNvPr id="8" name="Picture 7" descr="sch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SAVE AS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Star, folder,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cite, export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1"/>
            <a:ext cx="10543032" cy="26060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Click the star to save a paper, and create a labelled folder, for example ECG digitization.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Use the quote icon to get a ready citation, and </a:t>
            </a:r>
            <a:r>
              <a:rPr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BibTeX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 for your paper's reference list.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Export the whole folder at once. Your reference list builds itself as you read.</a:t>
            </a:r>
          </a:p>
        </p:txBody>
      </p:sp>
      <p:pic>
        <p:nvPicPr>
          <p:cNvPr id="7" name="Picture 6" descr="sch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pic>
        <p:nvPicPr>
          <p:cNvPr id="8" name="Picture 7" descr="zot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52578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OPEN VS CLOSED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Which papers can you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actually use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5928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Open papers: read the whole thing, use them fully. Prefer the free version, </a:t>
            </a:r>
            <a:r>
              <a:rPr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arXiv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 abs or PMC.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Closed papers: read the abstract. Cite it for background only if it truly aligns with your work.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Never invent details you could not read behind a paywall.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SAME IDEA, MORE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arXiv and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Papers With Code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12848"/>
            <a:ext cx="10543032" cy="26060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arXiv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: newest open preprints, often months ahead of journals. The same synonym queries work.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Papers With Code: papers that ship code and sit on a leaderboard, so you see the current best and can reproduce it.</a:t>
            </a:r>
          </a:p>
        </p:txBody>
      </p:sp>
      <p:pic>
        <p:nvPicPr>
          <p:cNvPr id="6" name="Picture 5" descr="arx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pic>
        <p:nvPicPr>
          <p:cNvPr id="7" name="Picture 6" descr="hugging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5257800"/>
            <a:ext cx="914400" cy="914400"/>
          </a:xfrm>
          <a:prstGeom prst="rect">
            <a:avLst/>
          </a:prstGeom>
        </p:spPr>
      </p:pic>
      <p:pic>
        <p:nvPicPr>
          <p:cNvPr id="8" name="Picture 7" descr="semanticscho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824" y="52578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LIMIT OF BY HAND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You cannot see the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whole field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790007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By hand you get 10 to 20 papers and one citation tree. Useful, but slow.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You cannot see the whole field at once, the competitions, or a clean map of what is missing.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So we let AI do the sweep, at scale. But with one hard rule on the next slide.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READ THIS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AI Literature Rule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57401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AI invents papers.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Deep-research tools hallucinate citations MORE than plain chat, and medical topics are the worst.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Never ask AI to find you gaps or citations. It will make them up.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Do ask it to gather and compress what is really out there. Then verify: no working link, no paper.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One prompt, with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placeholders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57401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A single strong prompt that sweeps a whole field: every recent paper, the competitions, and the empty space.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It is built as a fill-in-the-blanks template. You swap the field, the time window, and the sub-areas.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The full prompt lives in the file landscape-sweep-</a:t>
            </a:r>
            <a:r>
              <a:rPr sz="2200" b="1" i="0" dirty="0" err="1">
                <a:solidFill>
                  <a:srgbClr val="1A1A1A"/>
                </a:solidFill>
                <a:latin typeface="Times New Roman"/>
                <a:cs typeface="Times New Roman"/>
              </a:rPr>
              <a:t>prompt.txt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, ready to paste. We read it on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FILL IT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Example: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LLM tokenization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57401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Same prompt, filled for a different field, so you see how the placeholders work.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Broad: NLP. Sub-area: large language models. Narrow: token cost and fairness across languages.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This continues Session 2: does anyone measure token cost cleanly across many tokenizers for Urdu?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OUR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same prompt, filled for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ECG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57401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Broad: deep learning. Sub-area: medical signals. Narrow: ECG image digitization.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The negative-space section asks the tool to report what nobody has measured, per damage type.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This is the exact prompt we run for today's example.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RUN IT WIDE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Three tools, run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before the session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1A4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25377"/>
            <a:ext cx="10543032" cy="1407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Run the same prompt on Claude Research, ChatGPT Deep Research, </a:t>
            </a:r>
            <a:r>
              <a:rPr lang="sv-SE" sz="2200" dirty="0">
                <a:solidFill>
                  <a:srgbClr val="1A1A1A"/>
                </a:solidFill>
                <a:latin typeface="Times New Roman"/>
                <a:cs typeface="Times New Roman"/>
              </a:rPr>
              <a:t>Manus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,</a:t>
            </a:r>
            <a:r>
              <a:rPr lang="sv-SE"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Kimi,Genspark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 and Gemini. Each finds papers the others miss.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I ran these already. Here are the saved answers, one file per tool.</a:t>
            </a:r>
          </a:p>
        </p:txBody>
      </p:sp>
      <p:pic>
        <p:nvPicPr>
          <p:cNvPr id="7" name="Picture 6" descr="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pic>
        <p:nvPicPr>
          <p:cNvPr id="8" name="Picture 7" descr="chat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5257800"/>
            <a:ext cx="914400" cy="914400"/>
          </a:xfrm>
          <a:prstGeom prst="rect">
            <a:avLst/>
          </a:prstGeom>
        </p:spPr>
      </p:pic>
      <p:pic>
        <p:nvPicPr>
          <p:cNvPr id="10" name="Picture 9" descr="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198" y="525780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One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master 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1A4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86586"/>
            <a:ext cx="10543032" cy="26060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Paste all the tool answers into Claude Code and ask it to merge: dedupe by title, keep the best link, sort newest.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Now the whole recent field is one table you can skim: problem, contribution, limitation, link.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It does not matter if that is 30 papers or 300. The table makes it </a:t>
            </a:r>
            <a:r>
              <a:rPr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skimmable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.</a:t>
            </a:r>
          </a:p>
        </p:txBody>
      </p:sp>
      <p:pic>
        <p:nvPicPr>
          <p:cNvPr id="7" name="Picture 6" descr="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SIGNATURE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Verify the papers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are real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7734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Click 3 links from the table. Real papers open. Good.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Click a 4th that turns out dead or a different paper. That is why we verify. Delete that row.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The rule for the whole series: no working link, no row. A number with no source is a rumor.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HONESTY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Times New Roman"/>
                <a:cs typeface="Times New Roman"/>
              </a:rPr>
              <a:t>The number that </a:t>
            </a:r>
            <a:r>
              <a:rPr sz="3400" b="1" i="1">
                <a:solidFill>
                  <a:srgbClr val="C01A1A"/>
                </a:solidFill>
                <a:latin typeface="Times New Roman"/>
                <a:cs typeface="Times New Roman"/>
              </a:rPr>
              <a:t>teaches the lesson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734589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Our own prep said the top score was about 23 dB, with a 16 dB baseline. We checked. Both are wrong.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Verified: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winner SignalSavants scored 12.15 dB on the hidden test. A 2025 method hits 19.65 dB on real scans.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Even your hosts' brief had unverified numbers. Verify everything, including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FIND THE EMPTY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Read for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absence</a:t>
            </a: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, not presence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803862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Do not read every paper. Scan two columns: the limitation or future-work column, and the sparse sub-themes.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For ECG digitization, one pattern jumps out: every method reports ONE overall SNR number.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Nobody breaks it down per damage type, per method. That empty space is a candidate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Grandma Test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70688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A real gap has two parts you can say in one plain sentence: a Context and an Obstacle.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Shape: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Everyone did X, but nobody did Y, because of Z.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If your sentence is just "I combine A and B", that is a hobby, not a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OUR CANDIDATE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State it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honestly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57401"/>
            <a:ext cx="5852160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Context: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quality is scored as one number.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Obstacle: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per-type behavior is hidden. A fix that helps blurry photos may hurt clean scans.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We say per method, per type, so it survives the papers that already did part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2468880"/>
            <a:ext cx="4462272" cy="3703320"/>
          </a:xfrm>
          <a:prstGeom prst="roundRect">
            <a:avLst/>
          </a:prstGeom>
          <a:solidFill>
            <a:srgbClr val="F3F2EF"/>
          </a:solidFill>
          <a:ln w="15875">
            <a:solidFill>
              <a:srgbClr val="C0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228600" rtlCol="0" anchor="ctr"/>
          <a:lstStyle/>
          <a:p>
            <a:pPr algn="ctr"/>
            <a:r>
              <a:rPr sz="1400" b="1">
                <a:solidFill>
                  <a:srgbClr val="C01A1A"/>
                </a:solidFill>
                <a:latin typeface="Times New Roman"/>
                <a:cs typeface="Times New Roman"/>
              </a:rPr>
              <a:t>THE GAP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sz="2000" i="1">
                <a:solidFill>
                  <a:srgbClr val="1A1A1A"/>
                </a:solidFill>
                <a:latin typeface="Times New Roman"/>
                <a:cs typeface="Times New Roman"/>
              </a:rPr>
              <a:t>Everyone reports one overall SNR for ECG digitization, but nobody shows which damage types break each method, and which fix helps each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THE STEP EVERYONE SKIPS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300" b="1">
                <a:solidFill>
                  <a:srgbClr val="1A1A1A"/>
                </a:solidFill>
                <a:latin typeface="Times New Roman"/>
                <a:cs typeface="Times New Roman"/>
              </a:rPr>
              <a:t>Validate </a:t>
            </a:r>
            <a:r>
              <a:rPr sz="3300" b="1" i="1">
                <a:solidFill>
                  <a:srgbClr val="C01A1A"/>
                </a:solidFill>
                <a:latin typeface="Times New Roman"/>
                <a:cs typeface="Times New Roman"/>
              </a:rPr>
              <a:t>before you commit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317175" y="438912"/>
            <a:ext cx="1051560" cy="420624"/>
          </a:xfrm>
          <a:prstGeom prst="roundRect">
            <a:avLst/>
          </a:prstGeom>
          <a:solidFill>
            <a:srgbClr val="C0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1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Run a second, skeptical prompt whose job is to PROVE your gap is already solved.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Run it fresh, ideally on a different tool, so it is not defending its own earlier answer.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It returns a verdict: OPEN, PARTIALLY taken, or already DONE, with real papers as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READ 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A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pivot is normal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01168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OPEN: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nobody did it. Go.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PARTIAL: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someone did part of it. Narrow your gap to the exact piece they left.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 dirty="0">
                <a:solidFill>
                  <a:srgbClr val="C01A1A"/>
                </a:solidFill>
                <a:latin typeface="Times New Roman"/>
                <a:cs typeface="Times New Roman"/>
              </a:rPr>
              <a:t>DONE: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it exists. Pick your next candidate and repeat. This is normal, it takes a few tries.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 dirty="0">
                <a:solidFill>
                  <a:srgbClr val="1A1A1A"/>
                </a:solidFill>
                <a:latin typeface="Times New Roman"/>
                <a:cs typeface="Times New Roman"/>
              </a:rPr>
              <a:t>A method that never rejects anything is not checking. It is flattering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TWO HONEST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Times New Roman"/>
                <a:cs typeface="Times New Roman"/>
              </a:rPr>
              <a:t>Pure research, or </a:t>
            </a:r>
            <a:r>
              <a:rPr sz="3000" b="1" i="1">
                <a:solidFill>
                  <a:srgbClr val="C01A1A"/>
                </a:solidFill>
                <a:latin typeface="Times New Roman"/>
                <a:cs typeface="Times New Roman"/>
              </a:rPr>
              <a:t>competition as paper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240281"/>
            <a:ext cx="10543032" cy="26060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Way 1: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sweep, find the empty space, build it. What we just did.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1" i="0" dirty="0">
                <a:solidFill>
                  <a:srgbClr val="1A1A1A"/>
                </a:solidFill>
                <a:latin typeface="Times New Roman"/>
                <a:cs typeface="Times New Roman"/>
              </a:rPr>
              <a:t>Way 2: </a:t>
            </a:r>
            <a:r>
              <a:rPr sz="2200" b="0" i="0" dirty="0">
                <a:solidFill>
                  <a:srgbClr val="1A1A1A"/>
                </a:solidFill>
                <a:latin typeface="Times New Roman"/>
                <a:cs typeface="Times New Roman"/>
              </a:rPr>
              <a:t>enter a challenge, build a solution, add a lit review, a benchmark, and one honest new finding.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This ECG example is also a real competition. Way 2 is a fast, legitimate first paper.</a:t>
            </a:r>
          </a:p>
        </p:txBody>
      </p:sp>
      <p:pic>
        <p:nvPicPr>
          <p:cNvPr id="6" name="Picture 5" descr="kag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57800"/>
            <a:ext cx="914400" cy="914400"/>
          </a:xfrm>
          <a:prstGeom prst="rect">
            <a:avLst/>
          </a:prstGeom>
        </p:spPr>
      </p:pic>
      <p:pic>
        <p:nvPicPr>
          <p:cNvPr id="7" name="Picture 6" descr="grand_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5257800"/>
            <a:ext cx="9144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Do it on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your own field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9814255" y="438912"/>
            <a:ext cx="1554480" cy="420624"/>
          </a:xfrm>
          <a:prstGeom prst="roundRect">
            <a:avLst/>
          </a:prstGeom>
          <a:solidFill>
            <a:srgbClr val="1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  <a:cs typeface="Times New Roman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72412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Pick a field you care about: eye disease, skin cancer, an LLM topic, anything.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Narrow it with the tree until it is small. Name one candidate gap as a Context plus Obstacle sentence.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Paste it in the chat. We will run the skeptic prompt on a few,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Your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task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2834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Pick one field. Run the collection prompt on one free tool, Gemini free or Perplexity free.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Verify by hand: click 5 links, delete any that do not open.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Write one candidate gap as a Context plus Obstacle sentence, and run the validation prompt on it.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Bring your verdict, OPEN, PARTIAL, or DONE, to the next session. A rejected gap counts as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u="sng">
                <a:solidFill>
                  <a:srgbClr val="1A4EC8"/>
                </a:solidFill>
                <a:latin typeface="Times New Roman"/>
                <a:cs typeface="Times New Roman"/>
                <a:hlinkClick r:id="rId2"/>
              </a:rPr>
              <a:t>Repo: slides, prompts,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The whole path in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one 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68880"/>
            <a:ext cx="10543032" cy="3703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0">
                <a:solidFill>
                  <a:srgbClr val="C01A1A"/>
                </a:solidFill>
                <a:latin typeface="Times New Roman"/>
                <a:cs typeface="Times New Roman"/>
              </a:rPr>
              <a:t>Ideas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to </a:t>
            </a:r>
            <a:r>
              <a:rPr sz="2200" b="0" i="0">
                <a:solidFill>
                  <a:srgbClr val="C01A1A"/>
                </a:solidFill>
                <a:latin typeface="Times New Roman"/>
                <a:cs typeface="Times New Roman"/>
              </a:rPr>
              <a:t>Search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to </a:t>
            </a:r>
            <a:r>
              <a:rPr sz="2200" b="0" i="0">
                <a:solidFill>
                  <a:srgbClr val="C01A1A"/>
                </a:solidFill>
                <a:latin typeface="Times New Roman"/>
                <a:cs typeface="Times New Roman"/>
              </a:rPr>
              <a:t>Sweep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to </a:t>
            </a:r>
            <a:r>
              <a:rPr sz="2200" b="0" i="0">
                <a:solidFill>
                  <a:srgbClr val="C01A1A"/>
                </a:solidFill>
                <a:latin typeface="Times New Roman"/>
                <a:cs typeface="Times New Roman"/>
              </a:rPr>
              <a:t>Verify </a:t>
            </a:r>
            <a:r>
              <a:rPr sz="2200" b="0" i="0">
                <a:solidFill>
                  <a:srgbClr val="1A1A1A"/>
                </a:solidFill>
                <a:latin typeface="Times New Roman"/>
                <a:cs typeface="Times New Roman"/>
              </a:rPr>
              <a:t>to </a:t>
            </a:r>
            <a:r>
              <a:rPr sz="2200" b="0" i="0">
                <a:solidFill>
                  <a:srgbClr val="C01A1A"/>
                </a:solidFill>
                <a:latin typeface="Times New Roman"/>
                <a:cs typeface="Times New Roman"/>
              </a:rPr>
              <a:t>Validate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>
                <a:solidFill>
                  <a:srgbClr val="1A1A1A"/>
                </a:solidFill>
                <a:latin typeface="Times New Roman"/>
                <a:cs typeface="Times New Roman"/>
              </a:rPr>
              <a:t>Get an active problem with data. See the whole field. Prove the papers are real. Prove the gap is empty.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b="0" i="1">
                <a:solidFill>
                  <a:srgbClr val="1A1A1A"/>
                </a:solidFill>
                <a:latin typeface="Times New Roman"/>
                <a:cs typeface="Times New Roman"/>
              </a:rPr>
              <a:t>A gap that survives a full sweep and a skeptic's attack is worth months. One from 3 papers is worth a weekend of doubt.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19088"/>
            <a:ext cx="13075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GET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Volunteer: teach us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LaTeX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407767"/>
            <a:ext cx="10543032" cy="2438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LaTeX is how almost every research paper is typeset. It is worth learning early.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We want one student to give a short guest session: setup, a paper template, equations, and references.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The best way to learn something is to teach it, and it puts your name in front of the community.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C01A1A"/>
                </a:solidFill>
                <a:latin typeface="Times New Roman"/>
                <a:cs typeface="Times New Roman"/>
              </a:rPr>
              <a:t>GET INVOLVED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303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  <a:cs typeface="Times New Roman"/>
              </a:rPr>
              <a:t>Volunteer: teach us </a:t>
            </a:r>
            <a:r>
              <a:rPr sz="3600" b="1" i="1">
                <a:solidFill>
                  <a:srgbClr val="C01A1A"/>
                </a:solidFill>
                <a:latin typeface="Times New Roman"/>
                <a:cs typeface="Times New Roman"/>
              </a:rPr>
              <a:t>Zotero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011680"/>
            <a:ext cx="10543032" cy="0"/>
          </a:xfrm>
          <a:prstGeom prst="bentConnector3">
            <a:avLst/>
          </a:prstGeom>
          <a:ln w="27940">
            <a:solidFill>
              <a:srgbClr val="C0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543702"/>
            <a:ext cx="10543032" cy="2438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Zotero is the free tool that organizes your papers and citations, the folders and </a:t>
            </a:r>
            <a:r>
              <a:rPr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BibTeX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 we saw today.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We want one student to give a short guest session: saving papers, folders, cite as you write, and exporting </a:t>
            </a:r>
            <a:r>
              <a:rPr sz="2200" dirty="0" err="1">
                <a:solidFill>
                  <a:srgbClr val="1A1A1A"/>
                </a:solidFill>
                <a:latin typeface="Times New Roman"/>
                <a:cs typeface="Times New Roman"/>
              </a:rPr>
              <a:t>BibTeX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22000"/>
              </a:lnSpc>
              <a:spcAft>
                <a:spcPts val="1600"/>
              </a:spcAft>
            </a:pPr>
            <a:r>
              <a:rPr sz="2200" dirty="0">
                <a:solidFill>
                  <a:srgbClr val="C01A1A"/>
                </a:solidFill>
                <a:latin typeface="Times New Roman"/>
                <a:cs typeface="Times New Roman"/>
              </a:rPr>
              <a:t>▪  </a:t>
            </a:r>
            <a:r>
              <a:rPr sz="2200" dirty="0">
                <a:solidFill>
                  <a:srgbClr val="1A1A1A"/>
                </a:solidFill>
                <a:latin typeface="Times New Roman"/>
                <a:cs typeface="Times New Roman"/>
              </a:rPr>
              <a:t>A clean reference workflow saves you hours on every paper you write.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707070"/>
                </a:solidFill>
                <a:latin typeface="Times New Roman"/>
                <a:cs typeface="Times New Roman"/>
              </a:rPr>
              <a:t>BTAJI CREW  ·  SESSION 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73152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imes New Roman"/>
                <a:cs typeface="Times New Roman"/>
              </a:rPr>
              <a:t>JOIN THE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303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800" b="1">
                <a:solidFill>
                  <a:srgbClr val="FFFFFF"/>
                </a:solidFill>
                <a:latin typeface="Times New Roman"/>
                <a:cs typeface="Times New Roman"/>
              </a:rPr>
              <a:t>Keep </a:t>
            </a:r>
            <a:r>
              <a:rPr sz="6800" b="1" i="1">
                <a:solidFill>
                  <a:srgbClr val="FFFFFF"/>
                </a:solidFill>
                <a:latin typeface="Times New Roman"/>
                <a:cs typeface="Times New Roman"/>
              </a:rPr>
              <a:t>going.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9326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>
                <a:solidFill>
                  <a:srgbClr val="FFFFFF"/>
                </a:solidFill>
                <a:latin typeface="Times New Roman"/>
                <a:cs typeface="Times New Roman"/>
              </a:rPr>
              <a:t>Post your validated gap and its verdict in the group. A rejected gap counts as success.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9204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Times New Roman"/>
                <a:cs typeface="Times New Roman"/>
                <a:hlinkClick r:id="rId3"/>
              </a:rPr>
              <a:t>chat.whatsapp.com/E29f5rozhAo8RbKjA00eSh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1054303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i="1">
                <a:solidFill>
                  <a:srgbClr val="FFFFFF"/>
                </a:solidFill>
                <a:latin typeface="Times New Roman"/>
                <a:cs typeface="Times New Roman"/>
              </a:rPr>
              <a:t>Next time: turning your validated gap into a plan. Baseline, dataset, metric.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3246</Words>
  <Application>Microsoft Macintosh PowerPoint</Application>
  <PresentationFormat>Widescreen</PresentationFormat>
  <Paragraphs>327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Ibrahim</cp:lastModifiedBy>
  <cp:revision>4</cp:revision>
  <dcterms:created xsi:type="dcterms:W3CDTF">2013-01-27T09:14:16Z</dcterms:created>
  <dcterms:modified xsi:type="dcterms:W3CDTF">2026-07-04T15:28:59Z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2026-07-03T15:49:07Z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a8137e68-20bf-45f7-80b9-f1dd54a5efd8</vt:lpwstr>
  </property>
  <property fmtid="{D5CDD505-2E9C-101B-9397-08002B2CF9AE}" pid="7" name="MSIP_Label_defa4170-0d19-0005-0004-bc88714345d2_ActionId">
    <vt:lpwstr>2bb6dd21-c034-4fa3-9be1-0366bca71822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